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73152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5858933" y="5350933"/>
            <a:ext cx="1320800" cy="480906"/>
          </a:xfrm>
          <a:prstGeom prst="rect">
            <a:avLst/>
          </a:prstGeom>
          <a:solidFill>
            <a:srgbClr val="000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7386" y="5940213"/>
            <a:ext cx="6813973" cy="596053"/>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99626" y="6556586"/>
            <a:ext cx="5249333" cy="4876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47360" y="8358293"/>
            <a:ext cx="860213" cy="6299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79253" y="5411893"/>
            <a:ext cx="1280160" cy="358986"/>
          </a:xfrm>
          <a:prstGeom prst="rect">
            <a:avLst/>
          </a:prstGeom>
          <a:noFill/>
        </p:spPr>
        <p:txBody>
          <a:bodyPr wrap="square">
            <a:normAutofit/>
          </a:bodyPr>
          <a:lstStyle/>
          <a:p>
            <a:pPr algn="l"/>
            <a:r>
              <a:rPr sz="3200" b="1">
                <a:solidFill>
                  <a:srgbClr val="000000"/>
                </a:solidFill>
              </a:rPr>
              <a:t>THEIR</a:t>
            </a:r>
          </a:p>
        </p:txBody>
      </p:sp>
      <p:sp>
        <p:nvSpPr>
          <p:cNvPr id="8" name="TextBox 7"/>
          <p:cNvSpPr txBox="1"/>
          <p:nvPr/>
        </p:nvSpPr>
        <p:spPr>
          <a:xfrm>
            <a:off x="386080" y="6014720"/>
            <a:ext cx="6556586" cy="447040"/>
          </a:xfrm>
          <a:prstGeom prst="rect">
            <a:avLst/>
          </a:prstGeom>
          <a:noFill/>
        </p:spPr>
        <p:txBody>
          <a:bodyPr wrap="square">
            <a:normAutofit/>
          </a:bodyPr>
          <a:lstStyle/>
          <a:p>
            <a:pPr algn="ctr"/>
            <a:r>
              <a:rPr sz="4000" b="1">
                <a:solidFill>
                  <a:srgbClr val="000000"/>
                </a:solidFill>
              </a:rPr>
              <a:t>SUMMER 2026 REQUEST FOR</a:t>
            </a:r>
          </a:p>
        </p:txBody>
      </p:sp>
      <p:sp>
        <p:nvSpPr>
          <p:cNvPr id="9" name="TextBox 8"/>
          <p:cNvSpPr txBox="1"/>
          <p:nvPr/>
        </p:nvSpPr>
        <p:spPr>
          <a:xfrm>
            <a:off x="494453" y="6617546"/>
            <a:ext cx="5059680" cy="365760"/>
          </a:xfrm>
          <a:prstGeom prst="rect">
            <a:avLst/>
          </a:prstGeom>
          <a:noFill/>
        </p:spPr>
        <p:txBody>
          <a:bodyPr wrap="square">
            <a:normAutofit/>
          </a:bodyPr>
          <a:lstStyle/>
          <a:p>
            <a:pPr algn="ctr"/>
            <a:r>
              <a:rPr sz="3300" b="1">
                <a:solidFill>
                  <a:srgbClr val="000000"/>
                </a:solidFill>
              </a:rPr>
              <a:t>STARTUPS. AKA WHAT</a:t>
            </a:r>
          </a:p>
        </p:txBody>
      </p:sp>
      <p:sp>
        <p:nvSpPr>
          <p:cNvPr id="10" name="TextBox 9"/>
          <p:cNvSpPr txBox="1"/>
          <p:nvPr/>
        </p:nvSpPr>
        <p:spPr>
          <a:xfrm>
            <a:off x="5567680" y="8439573"/>
            <a:ext cx="819573" cy="467359"/>
          </a:xfrm>
          <a:prstGeom prst="rect">
            <a:avLst/>
          </a:prstGeom>
          <a:noFill/>
        </p:spPr>
        <p:txBody>
          <a:bodyPr wrap="square">
            <a:normAutofit/>
          </a:bodyPr>
          <a:lstStyle/>
          <a:p>
            <a:pPr algn="l"/>
            <a:r>
              <a:rPr sz="4200" b="1">
                <a:solidFill>
                  <a:srgbClr val="000000"/>
                </a:solidFill>
              </a:rPr>
              <a:t>=&gt;</a:t>
            </a:r>
          </a:p>
        </p:txBody>
      </p:sp>
      <p:sp>
        <p:nvSpPr>
          <p:cNvPr id="11" name="TextBox 10"/>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DYKyzOMCGal / slide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467359" y="501226"/>
            <a:ext cx="4165600" cy="623146"/>
          </a:xfrm>
          <a:prstGeom prst="rect">
            <a:avLst/>
          </a:prstGeom>
          <a:solidFill>
            <a:srgbClr val="0303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3813" y="1097280"/>
            <a:ext cx="4673600" cy="623146"/>
          </a:xfrm>
          <a:prstGeom prst="rect">
            <a:avLst/>
          </a:prstGeom>
          <a:solidFill>
            <a:srgbClr val="0302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2120053"/>
            <a:ext cx="3569546" cy="270933"/>
          </a:xfrm>
          <a:prstGeom prst="rect">
            <a:avLst/>
          </a:prstGeom>
          <a:solidFill>
            <a:srgbClr val="0502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0506" y="2526453"/>
            <a:ext cx="2770293" cy="270933"/>
          </a:xfrm>
          <a:prstGeom prst="rect">
            <a:avLst/>
          </a:prstGeom>
          <a:solidFill>
            <a:srgbClr val="0202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939626"/>
            <a:ext cx="2384213" cy="216746"/>
          </a:xfrm>
          <a:prstGeom prst="rect">
            <a:avLst/>
          </a:prstGeom>
          <a:solidFill>
            <a:srgbClr val="0404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1866" y="3346026"/>
            <a:ext cx="2018453" cy="264160"/>
          </a:xfrm>
          <a:prstGeom prst="rect">
            <a:avLst/>
          </a:prstGeom>
          <a:solidFill>
            <a:srgbClr val="0503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4053" y="3759199"/>
            <a:ext cx="2330026" cy="216746"/>
          </a:xfrm>
          <a:prstGeom prst="rect">
            <a:avLst/>
          </a:prstGeom>
          <a:solidFill>
            <a:srgbClr val="0403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4773" y="4165600"/>
            <a:ext cx="3298613" cy="270933"/>
          </a:xfrm>
          <a:prstGeom prst="rect">
            <a:avLst/>
          </a:prstGeom>
          <a:solidFill>
            <a:srgbClr val="0402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28320" y="4572000"/>
            <a:ext cx="2492586" cy="277706"/>
          </a:xfrm>
          <a:prstGeom prst="rect">
            <a:avLst/>
          </a:prstGeom>
          <a:solidFill>
            <a:srgbClr val="030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1546" y="4978400"/>
            <a:ext cx="2817706" cy="270933"/>
          </a:xfrm>
          <a:prstGeom prst="rect">
            <a:avLst/>
          </a:prstGeom>
          <a:solidFill>
            <a:srgbClr val="0603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4773" y="5350933"/>
            <a:ext cx="3461173" cy="277706"/>
          </a:xfrm>
          <a:prstGeom prst="rect">
            <a:avLst/>
          </a:prstGeom>
          <a:solidFill>
            <a:srgbClr val="0503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1226" y="5730240"/>
            <a:ext cx="4050453" cy="270933"/>
          </a:xfrm>
          <a:prstGeom prst="rect">
            <a:avLst/>
          </a:prstGeom>
          <a:solidFill>
            <a:srgbClr val="0302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5093" y="6109546"/>
            <a:ext cx="2221653" cy="270933"/>
          </a:xfrm>
          <a:prstGeom prst="rect">
            <a:avLst/>
          </a:prstGeom>
          <a:solidFill>
            <a:srgbClr val="0302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5093" y="6488853"/>
            <a:ext cx="2445173" cy="270933"/>
          </a:xfrm>
          <a:prstGeom prst="rect">
            <a:avLst/>
          </a:prstGeom>
          <a:solidFill>
            <a:srgbClr val="0302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1226" y="6868160"/>
            <a:ext cx="4030133" cy="270933"/>
          </a:xfrm>
          <a:prstGeom prst="rect">
            <a:avLst/>
          </a:prstGeom>
          <a:solidFill>
            <a:srgbClr val="0302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83733" y="7267786"/>
            <a:ext cx="3495040" cy="270933"/>
          </a:xfrm>
          <a:prstGeom prst="rect">
            <a:avLst/>
          </a:prstGeom>
          <a:solidFill>
            <a:srgbClr val="0504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4453" y="7660640"/>
            <a:ext cx="4422986" cy="270933"/>
          </a:xfrm>
          <a:prstGeom prst="rect">
            <a:avLst/>
          </a:prstGeom>
          <a:solidFill>
            <a:srgbClr val="0504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3786" y="8188960"/>
            <a:ext cx="3718560" cy="237066"/>
          </a:xfrm>
          <a:prstGeom prst="rect">
            <a:avLst/>
          </a:prstGeom>
          <a:solidFill>
            <a:srgbClr val="010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4106" y="8426026"/>
            <a:ext cx="2939626" cy="237066"/>
          </a:xfrm>
          <a:prstGeom prst="rect">
            <a:avLst/>
          </a:prstGeom>
          <a:solidFill>
            <a:srgbClr val="0202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1866" y="582506"/>
            <a:ext cx="4016586" cy="460586"/>
          </a:xfrm>
          <a:prstGeom prst="rect">
            <a:avLst/>
          </a:prstGeom>
          <a:noFill/>
        </p:spPr>
        <p:txBody>
          <a:bodyPr wrap="square">
            <a:normAutofit/>
          </a:bodyPr>
          <a:lstStyle/>
          <a:p>
            <a:pPr algn="ctr"/>
            <a:r>
              <a:rPr sz="4200" b="1">
                <a:solidFill>
                  <a:srgbClr val="000000"/>
                </a:solidFill>
              </a:rPr>
              <a:t>15 Focus Areas</a:t>
            </a:r>
          </a:p>
        </p:txBody>
      </p:sp>
      <p:sp>
        <p:nvSpPr>
          <p:cNvPr id="23" name="TextBox 22"/>
          <p:cNvSpPr txBox="1"/>
          <p:nvPr/>
        </p:nvSpPr>
        <p:spPr>
          <a:xfrm>
            <a:off x="541866" y="1178560"/>
            <a:ext cx="4497493" cy="460586"/>
          </a:xfrm>
          <a:prstGeom prst="rect">
            <a:avLst/>
          </a:prstGeom>
          <a:noFill/>
        </p:spPr>
        <p:txBody>
          <a:bodyPr wrap="square">
            <a:normAutofit/>
          </a:bodyPr>
          <a:lstStyle/>
          <a:p>
            <a:pPr algn="ctr"/>
            <a:r>
              <a:rPr sz="4200" b="1">
                <a:solidFill>
                  <a:srgbClr val="000000"/>
                </a:solidFill>
              </a:rPr>
              <a:t>YC Wants To See</a:t>
            </a:r>
          </a:p>
        </p:txBody>
      </p:sp>
      <p:sp>
        <p:nvSpPr>
          <p:cNvPr id="24" name="TextBox 23"/>
          <p:cNvSpPr txBox="1"/>
          <p:nvPr/>
        </p:nvSpPr>
        <p:spPr>
          <a:xfrm>
            <a:off x="575733" y="2153920"/>
            <a:ext cx="3434080" cy="203200"/>
          </a:xfrm>
          <a:prstGeom prst="rect">
            <a:avLst/>
          </a:prstGeom>
          <a:noFill/>
        </p:spPr>
        <p:txBody>
          <a:bodyPr wrap="square">
            <a:normAutofit/>
          </a:bodyPr>
          <a:lstStyle/>
          <a:p>
            <a:pPr algn="ctr"/>
            <a:r>
              <a:rPr sz="1800" b="0">
                <a:solidFill>
                  <a:srgbClr val="000000"/>
                </a:solidFill>
              </a:rPr>
              <a:t>01 Al for Low-Pesticide Agriculture</a:t>
            </a:r>
          </a:p>
        </p:txBody>
      </p:sp>
      <p:sp>
        <p:nvSpPr>
          <p:cNvPr id="25" name="TextBox 24"/>
          <p:cNvSpPr txBox="1"/>
          <p:nvPr/>
        </p:nvSpPr>
        <p:spPr>
          <a:xfrm>
            <a:off x="1137920" y="2560320"/>
            <a:ext cx="2675466" cy="203200"/>
          </a:xfrm>
          <a:prstGeom prst="rect">
            <a:avLst/>
          </a:prstGeom>
          <a:noFill/>
        </p:spPr>
        <p:txBody>
          <a:bodyPr wrap="square">
            <a:normAutofit/>
          </a:bodyPr>
          <a:lstStyle/>
          <a:p>
            <a:pPr algn="l"/>
            <a:r>
              <a:rPr sz="1800" b="0">
                <a:solidFill>
                  <a:srgbClr val="000000"/>
                </a:solidFill>
              </a:rPr>
              <a:t>Al-Native Service Companies</a:t>
            </a:r>
          </a:p>
        </p:txBody>
      </p:sp>
      <p:sp>
        <p:nvSpPr>
          <p:cNvPr id="26" name="TextBox 25"/>
          <p:cNvSpPr txBox="1"/>
          <p:nvPr/>
        </p:nvSpPr>
        <p:spPr>
          <a:xfrm>
            <a:off x="1137920" y="2966720"/>
            <a:ext cx="2302933" cy="162560"/>
          </a:xfrm>
          <a:prstGeom prst="rect">
            <a:avLst/>
          </a:prstGeom>
          <a:noFill/>
        </p:spPr>
        <p:txBody>
          <a:bodyPr wrap="square">
            <a:normAutofit/>
          </a:bodyPr>
          <a:lstStyle/>
          <a:p>
            <a:pPr algn="l"/>
            <a:r>
              <a:rPr sz="1400" b="0">
                <a:solidFill>
                  <a:srgbClr val="000000"/>
                </a:solidFill>
              </a:rPr>
              <a:t>Al Personalized Medicine</a:t>
            </a:r>
          </a:p>
        </p:txBody>
      </p:sp>
      <p:sp>
        <p:nvSpPr>
          <p:cNvPr id="27" name="TextBox 26"/>
          <p:cNvSpPr txBox="1"/>
          <p:nvPr/>
        </p:nvSpPr>
        <p:spPr>
          <a:xfrm>
            <a:off x="575733" y="3379893"/>
            <a:ext cx="1950720" cy="196426"/>
          </a:xfrm>
          <a:prstGeom prst="rect">
            <a:avLst/>
          </a:prstGeom>
          <a:noFill/>
        </p:spPr>
        <p:txBody>
          <a:bodyPr wrap="square">
            <a:normAutofit/>
          </a:bodyPr>
          <a:lstStyle/>
          <a:p>
            <a:pPr algn="l"/>
            <a:r>
              <a:rPr sz="1700" b="0">
                <a:solidFill>
                  <a:srgbClr val="000000"/>
                </a:solidFill>
              </a:rPr>
              <a:t>04 Company Brain</a:t>
            </a:r>
          </a:p>
        </p:txBody>
      </p:sp>
      <p:sp>
        <p:nvSpPr>
          <p:cNvPr id="28" name="TextBox 27"/>
          <p:cNvSpPr txBox="1"/>
          <p:nvPr/>
        </p:nvSpPr>
        <p:spPr>
          <a:xfrm>
            <a:off x="1144693" y="3786293"/>
            <a:ext cx="2248746" cy="162560"/>
          </a:xfrm>
          <a:prstGeom prst="rect">
            <a:avLst/>
          </a:prstGeom>
          <a:noFill/>
        </p:spPr>
        <p:txBody>
          <a:bodyPr wrap="square">
            <a:normAutofit/>
          </a:bodyPr>
          <a:lstStyle/>
          <a:p>
            <a:pPr algn="l"/>
            <a:r>
              <a:rPr sz="1400" b="0">
                <a:solidFill>
                  <a:srgbClr val="000000"/>
                </a:solidFill>
              </a:rPr>
              <a:t>Counter-Swarm Defense</a:t>
            </a:r>
          </a:p>
        </p:txBody>
      </p:sp>
      <p:sp>
        <p:nvSpPr>
          <p:cNvPr id="29" name="TextBox 28"/>
          <p:cNvSpPr txBox="1"/>
          <p:nvPr/>
        </p:nvSpPr>
        <p:spPr>
          <a:xfrm>
            <a:off x="575733" y="4199466"/>
            <a:ext cx="3176693" cy="203200"/>
          </a:xfrm>
          <a:prstGeom prst="rect">
            <a:avLst/>
          </a:prstGeom>
          <a:noFill/>
        </p:spPr>
        <p:txBody>
          <a:bodyPr wrap="square">
            <a:normAutofit/>
          </a:bodyPr>
          <a:lstStyle/>
          <a:p>
            <a:pPr algn="l"/>
            <a:r>
              <a:rPr sz="1800" b="0">
                <a:solidFill>
                  <a:srgbClr val="000000"/>
                </a:solidFill>
              </a:rPr>
              <a:t>06 Dynamic Software Interfaces</a:t>
            </a:r>
          </a:p>
        </p:txBody>
      </p:sp>
      <p:sp>
        <p:nvSpPr>
          <p:cNvPr id="30" name="TextBox 29"/>
          <p:cNvSpPr txBox="1"/>
          <p:nvPr/>
        </p:nvSpPr>
        <p:spPr>
          <a:xfrm>
            <a:off x="575733" y="4605866"/>
            <a:ext cx="2397760" cy="209973"/>
          </a:xfrm>
          <a:prstGeom prst="rect">
            <a:avLst/>
          </a:prstGeom>
          <a:noFill/>
        </p:spPr>
        <p:txBody>
          <a:bodyPr wrap="square">
            <a:normAutofit/>
          </a:bodyPr>
          <a:lstStyle/>
          <a:p>
            <a:pPr algn="l"/>
            <a:r>
              <a:rPr sz="1900" b="0">
                <a:solidFill>
                  <a:srgbClr val="000000"/>
                </a:solidFill>
              </a:rPr>
              <a:t>07 Electronics in Space</a:t>
            </a:r>
          </a:p>
        </p:txBody>
      </p:sp>
      <p:sp>
        <p:nvSpPr>
          <p:cNvPr id="31" name="TextBox 30"/>
          <p:cNvSpPr txBox="1"/>
          <p:nvPr/>
        </p:nvSpPr>
        <p:spPr>
          <a:xfrm>
            <a:off x="575733" y="5012266"/>
            <a:ext cx="2709333" cy="203200"/>
          </a:xfrm>
          <a:prstGeom prst="rect">
            <a:avLst/>
          </a:prstGeom>
          <a:noFill/>
        </p:spPr>
        <p:txBody>
          <a:bodyPr wrap="square">
            <a:normAutofit/>
          </a:bodyPr>
          <a:lstStyle/>
          <a:p>
            <a:pPr algn="l"/>
            <a:r>
              <a:rPr sz="1800" b="0">
                <a:solidFill>
                  <a:srgbClr val="000000"/>
                </a:solidFill>
              </a:rPr>
              <a:t>08 Hardware Supply Chain</a:t>
            </a:r>
          </a:p>
        </p:txBody>
      </p:sp>
      <p:sp>
        <p:nvSpPr>
          <p:cNvPr id="32" name="TextBox 31"/>
          <p:cNvSpPr txBox="1"/>
          <p:nvPr/>
        </p:nvSpPr>
        <p:spPr>
          <a:xfrm>
            <a:off x="575733" y="5384800"/>
            <a:ext cx="3339253" cy="209973"/>
          </a:xfrm>
          <a:prstGeom prst="rect">
            <a:avLst/>
          </a:prstGeom>
          <a:noFill/>
        </p:spPr>
        <p:txBody>
          <a:bodyPr wrap="square">
            <a:normAutofit/>
          </a:bodyPr>
          <a:lstStyle/>
          <a:p>
            <a:pPr algn="ctr"/>
            <a:r>
              <a:rPr sz="1900" b="0">
                <a:solidFill>
                  <a:srgbClr val="000000"/>
                </a:solidFill>
              </a:rPr>
              <a:t>09 Capabilities in Space</a:t>
            </a:r>
          </a:p>
        </p:txBody>
      </p:sp>
      <p:sp>
        <p:nvSpPr>
          <p:cNvPr id="33" name="TextBox 32"/>
          <p:cNvSpPr txBox="1"/>
          <p:nvPr/>
        </p:nvSpPr>
        <p:spPr>
          <a:xfrm>
            <a:off x="575733" y="5764106"/>
            <a:ext cx="3901440" cy="203200"/>
          </a:xfrm>
          <a:prstGeom prst="rect">
            <a:avLst/>
          </a:prstGeom>
          <a:noFill/>
        </p:spPr>
        <p:txBody>
          <a:bodyPr wrap="square">
            <a:normAutofit/>
          </a:bodyPr>
          <a:lstStyle/>
          <a:p>
            <a:pPr algn="ctr"/>
            <a:r>
              <a:rPr sz="1800" b="0">
                <a:solidFill>
                  <a:srgbClr val="000000"/>
                </a:solidFill>
              </a:rPr>
              <a:t>10 Inference Chips for Agent Workflows</a:t>
            </a:r>
          </a:p>
        </p:txBody>
      </p:sp>
      <p:sp>
        <p:nvSpPr>
          <p:cNvPr id="34" name="TextBox 33"/>
          <p:cNvSpPr txBox="1"/>
          <p:nvPr/>
        </p:nvSpPr>
        <p:spPr>
          <a:xfrm>
            <a:off x="575733" y="6143413"/>
            <a:ext cx="2140373" cy="203200"/>
          </a:xfrm>
          <a:prstGeom prst="rect">
            <a:avLst/>
          </a:prstGeom>
          <a:noFill/>
        </p:spPr>
        <p:txBody>
          <a:bodyPr wrap="square">
            <a:normAutofit/>
          </a:bodyPr>
          <a:lstStyle/>
          <a:p>
            <a:pPr algn="l"/>
            <a:r>
              <a:rPr sz="1800" b="0">
                <a:solidFill>
                  <a:srgbClr val="000000"/>
                </a:solidFill>
              </a:rPr>
              <a:t>11 SaaS Challengers</a:t>
            </a:r>
          </a:p>
        </p:txBody>
      </p:sp>
      <p:sp>
        <p:nvSpPr>
          <p:cNvPr id="35" name="TextBox 34"/>
          <p:cNvSpPr txBox="1"/>
          <p:nvPr/>
        </p:nvSpPr>
        <p:spPr>
          <a:xfrm>
            <a:off x="575733" y="6522720"/>
            <a:ext cx="2363893" cy="203200"/>
          </a:xfrm>
          <a:prstGeom prst="rect">
            <a:avLst/>
          </a:prstGeom>
          <a:noFill/>
        </p:spPr>
        <p:txBody>
          <a:bodyPr wrap="square">
            <a:normAutofit/>
          </a:bodyPr>
          <a:lstStyle/>
          <a:p>
            <a:pPr algn="l"/>
            <a:r>
              <a:rPr sz="1800" b="0">
                <a:solidFill>
                  <a:srgbClr val="000000"/>
                </a:solidFill>
              </a:rPr>
              <a:t>12 Software for Agents</a:t>
            </a:r>
          </a:p>
        </p:txBody>
      </p:sp>
      <p:sp>
        <p:nvSpPr>
          <p:cNvPr id="36" name="TextBox 35"/>
          <p:cNvSpPr txBox="1"/>
          <p:nvPr/>
        </p:nvSpPr>
        <p:spPr>
          <a:xfrm>
            <a:off x="575733" y="6902026"/>
            <a:ext cx="3881120" cy="203200"/>
          </a:xfrm>
          <a:prstGeom prst="rect">
            <a:avLst/>
          </a:prstGeom>
          <a:noFill/>
        </p:spPr>
        <p:txBody>
          <a:bodyPr wrap="square">
            <a:normAutofit/>
          </a:bodyPr>
          <a:lstStyle/>
          <a:p>
            <a:pPr algn="ctr"/>
            <a:r>
              <a:rPr sz="1800" b="0">
                <a:solidFill>
                  <a:srgbClr val="000000"/>
                </a:solidFill>
              </a:rPr>
              <a:t>18 Startups Selling to Huge Companies</a:t>
            </a:r>
          </a:p>
        </p:txBody>
      </p:sp>
      <p:sp>
        <p:nvSpPr>
          <p:cNvPr id="37" name="TextBox 36"/>
          <p:cNvSpPr txBox="1"/>
          <p:nvPr/>
        </p:nvSpPr>
        <p:spPr>
          <a:xfrm>
            <a:off x="1144693" y="7301653"/>
            <a:ext cx="3373120" cy="203200"/>
          </a:xfrm>
          <a:prstGeom prst="rect">
            <a:avLst/>
          </a:prstGeom>
          <a:noFill/>
        </p:spPr>
        <p:txBody>
          <a:bodyPr wrap="square">
            <a:normAutofit/>
          </a:bodyPr>
          <a:lstStyle/>
          <a:p>
            <a:pPr algn="ctr"/>
            <a:r>
              <a:rPr sz="1800" b="0">
                <a:solidFill>
                  <a:srgbClr val="000000"/>
                </a:solidFill>
              </a:rPr>
              <a:t>Supply Chain 2.0 for Semiconductors</a:t>
            </a:r>
          </a:p>
        </p:txBody>
      </p:sp>
      <p:sp>
        <p:nvSpPr>
          <p:cNvPr id="38" name="TextBox 37"/>
          <p:cNvSpPr txBox="1"/>
          <p:nvPr/>
        </p:nvSpPr>
        <p:spPr>
          <a:xfrm>
            <a:off x="575733" y="7694506"/>
            <a:ext cx="4260426" cy="203200"/>
          </a:xfrm>
          <a:prstGeom prst="rect">
            <a:avLst/>
          </a:prstGeom>
          <a:noFill/>
        </p:spPr>
        <p:txBody>
          <a:bodyPr wrap="square">
            <a:normAutofit/>
          </a:bodyPr>
          <a:lstStyle/>
          <a:p>
            <a:pPr algn="ctr"/>
            <a:r>
              <a:rPr sz="1800" b="0">
                <a:solidFill>
                  <a:srgbClr val="000000"/>
                </a:solidFill>
              </a:rPr>
              <a:t>15 The Al Operating System for Companies</a:t>
            </a:r>
          </a:p>
        </p:txBody>
      </p:sp>
      <p:sp>
        <p:nvSpPr>
          <p:cNvPr id="39" name="TextBox 38"/>
          <p:cNvSpPr txBox="1"/>
          <p:nvPr/>
        </p:nvSpPr>
        <p:spPr>
          <a:xfrm>
            <a:off x="731520" y="8216053"/>
            <a:ext cx="3583093" cy="182880"/>
          </a:xfrm>
          <a:prstGeom prst="rect">
            <a:avLst/>
          </a:prstGeom>
          <a:noFill/>
        </p:spPr>
        <p:txBody>
          <a:bodyPr wrap="square">
            <a:normAutofit/>
          </a:bodyPr>
          <a:lstStyle/>
          <a:p>
            <a:pPr algn="ctr"/>
            <a:r>
              <a:rPr sz="1600" b="0">
                <a:solidFill>
                  <a:srgbClr val="000000"/>
                </a:solidFill>
              </a:rPr>
              <a:t>These signals reveal where the next decade</a:t>
            </a:r>
          </a:p>
        </p:txBody>
      </p:sp>
      <p:sp>
        <p:nvSpPr>
          <p:cNvPr id="40" name="TextBox 39"/>
          <p:cNvSpPr txBox="1"/>
          <p:nvPr/>
        </p:nvSpPr>
        <p:spPr>
          <a:xfrm>
            <a:off x="738293" y="8453120"/>
            <a:ext cx="2831253" cy="182880"/>
          </a:xfrm>
          <a:prstGeom prst="rect">
            <a:avLst/>
          </a:prstGeom>
          <a:noFill/>
        </p:spPr>
        <p:txBody>
          <a:bodyPr wrap="square">
            <a:normAutofit/>
          </a:bodyPr>
          <a:lstStyle/>
          <a:p>
            <a:pPr algn="l"/>
            <a:r>
              <a:rPr sz="1600" b="0">
                <a:solidFill>
                  <a:srgbClr val="000000"/>
                </a:solidFill>
              </a:rPr>
              <a:t>of massive companies will be built.</a:t>
            </a:r>
          </a:p>
        </p:txBody>
      </p:sp>
      <p:sp>
        <p:nvSpPr>
          <p:cNvPr id="41" name="TextBox 40"/>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DYKyzOMCGal / slide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447040" y="2275840"/>
            <a:ext cx="1158240" cy="92794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6773" y="4097866"/>
            <a:ext cx="690880" cy="169333"/>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9333" y="4036906"/>
            <a:ext cx="6495626" cy="717973"/>
          </a:xfrm>
          <a:prstGeom prst="rect">
            <a:avLst/>
          </a:prstGeom>
          <a:solidFill>
            <a:srgbClr val="0101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3520" y="4741333"/>
            <a:ext cx="3616960" cy="873760"/>
          </a:xfrm>
          <a:prstGeom prst="rect">
            <a:avLst/>
          </a:prstGeom>
          <a:solidFill>
            <a:srgbClr val="0101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3200" y="5757333"/>
            <a:ext cx="6956213" cy="379306"/>
          </a:xfrm>
          <a:prstGeom prst="rect">
            <a:avLst/>
          </a:prstGeom>
          <a:solidFill>
            <a:srgbClr val="0202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3520" y="6231466"/>
            <a:ext cx="5310293" cy="379306"/>
          </a:xfrm>
          <a:prstGeom prst="rect">
            <a:avLst/>
          </a:prstGeom>
          <a:solidFill>
            <a:srgbClr val="0202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16746" y="7620000"/>
            <a:ext cx="5418666" cy="419946"/>
          </a:xfrm>
          <a:prstGeom prst="rect">
            <a:avLst/>
          </a:prstGeom>
          <a:solidFill>
            <a:srgbClr val="0101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9973" y="8019626"/>
            <a:ext cx="5797973" cy="419946"/>
          </a:xfrm>
          <a:prstGeom prst="rect">
            <a:avLst/>
          </a:prstGeom>
          <a:solidFill>
            <a:srgbClr val="0101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7359" y="2397760"/>
            <a:ext cx="1117600" cy="684106"/>
          </a:xfrm>
          <a:prstGeom prst="rect">
            <a:avLst/>
          </a:prstGeom>
          <a:noFill/>
        </p:spPr>
        <p:txBody>
          <a:bodyPr wrap="square">
            <a:normAutofit/>
          </a:bodyPr>
          <a:lstStyle/>
          <a:p>
            <a:pPr algn="l"/>
            <a:r>
              <a:rPr sz="5800" b="1">
                <a:solidFill>
                  <a:srgbClr val="000000"/>
                </a:solidFill>
              </a:rPr>
              <a:t>01.</a:t>
            </a:r>
          </a:p>
        </p:txBody>
      </p:sp>
      <p:sp>
        <p:nvSpPr>
          <p:cNvPr id="12" name="TextBox 11"/>
          <p:cNvSpPr txBox="1"/>
          <p:nvPr/>
        </p:nvSpPr>
        <p:spPr>
          <a:xfrm>
            <a:off x="5107093" y="4124960"/>
            <a:ext cx="650240" cy="135466"/>
          </a:xfrm>
          <a:prstGeom prst="rect">
            <a:avLst/>
          </a:prstGeom>
          <a:noFill/>
        </p:spPr>
        <p:txBody>
          <a:bodyPr wrap="square">
            <a:normAutofit/>
          </a:bodyPr>
          <a:lstStyle/>
          <a:p>
            <a:pPr algn="l"/>
            <a:r>
              <a:rPr sz="1000" b="0">
                <a:solidFill>
                  <a:srgbClr val="000000"/>
                </a:solidFill>
              </a:rPr>
              <a:t>e e</a:t>
            </a:r>
          </a:p>
        </p:txBody>
      </p:sp>
      <p:sp>
        <p:nvSpPr>
          <p:cNvPr id="13" name="TextBox 12"/>
          <p:cNvSpPr txBox="1"/>
          <p:nvPr/>
        </p:nvSpPr>
        <p:spPr>
          <a:xfrm>
            <a:off x="291253" y="4131733"/>
            <a:ext cx="6251786" cy="528320"/>
          </a:xfrm>
          <a:prstGeom prst="rect">
            <a:avLst/>
          </a:prstGeom>
          <a:noFill/>
        </p:spPr>
        <p:txBody>
          <a:bodyPr wrap="square">
            <a:normAutofit/>
          </a:bodyPr>
          <a:lstStyle/>
          <a:p>
            <a:pPr algn="ctr"/>
            <a:r>
              <a:rPr sz="4800" b="1">
                <a:solidFill>
                  <a:srgbClr val="000000"/>
                </a:solidFill>
              </a:rPr>
              <a:t>Al for Low-Pesticide</a:t>
            </a:r>
          </a:p>
        </p:txBody>
      </p:sp>
      <p:sp>
        <p:nvSpPr>
          <p:cNvPr id="14" name="TextBox 13"/>
          <p:cNvSpPr txBox="1"/>
          <p:nvPr/>
        </p:nvSpPr>
        <p:spPr>
          <a:xfrm>
            <a:off x="291253" y="4856480"/>
            <a:ext cx="3481493" cy="643466"/>
          </a:xfrm>
          <a:prstGeom prst="rect">
            <a:avLst/>
          </a:prstGeom>
          <a:noFill/>
        </p:spPr>
        <p:txBody>
          <a:bodyPr wrap="square">
            <a:normAutofit/>
          </a:bodyPr>
          <a:lstStyle/>
          <a:p>
            <a:pPr algn="ctr"/>
            <a:r>
              <a:rPr sz="5800" b="1">
                <a:solidFill>
                  <a:srgbClr val="000000"/>
                </a:solidFill>
              </a:rPr>
              <a:t>Agriculture</a:t>
            </a:r>
          </a:p>
        </p:txBody>
      </p:sp>
      <p:sp>
        <p:nvSpPr>
          <p:cNvPr id="15" name="TextBox 14"/>
          <p:cNvSpPr txBox="1"/>
          <p:nvPr/>
        </p:nvSpPr>
        <p:spPr>
          <a:xfrm>
            <a:off x="331893" y="5804746"/>
            <a:ext cx="6698826" cy="284480"/>
          </a:xfrm>
          <a:prstGeom prst="rect">
            <a:avLst/>
          </a:prstGeom>
          <a:noFill/>
        </p:spPr>
        <p:txBody>
          <a:bodyPr wrap="square">
            <a:normAutofit/>
          </a:bodyPr>
          <a:lstStyle/>
          <a:p>
            <a:pPr algn="ctr"/>
            <a:r>
              <a:rPr sz="2600" b="0">
                <a:solidFill>
                  <a:srgbClr val="000000"/>
                </a:solidFill>
              </a:rPr>
              <a:t>Use Al, robotics, and biology to cut pesticide use by</a:t>
            </a:r>
          </a:p>
        </p:txBody>
      </p:sp>
      <p:sp>
        <p:nvSpPr>
          <p:cNvPr id="16" name="TextBox 15"/>
          <p:cNvSpPr txBox="1"/>
          <p:nvPr/>
        </p:nvSpPr>
        <p:spPr>
          <a:xfrm>
            <a:off x="325120" y="6278880"/>
            <a:ext cx="5107093" cy="284480"/>
          </a:xfrm>
          <a:prstGeom prst="rect">
            <a:avLst/>
          </a:prstGeom>
          <a:noFill/>
        </p:spPr>
        <p:txBody>
          <a:bodyPr wrap="square">
            <a:normAutofit/>
          </a:bodyPr>
          <a:lstStyle/>
          <a:p>
            <a:pPr algn="ctr"/>
            <a:r>
              <a:rPr sz="2600" b="0">
                <a:solidFill>
                  <a:srgbClr val="000000"/>
                </a:solidFill>
              </a:rPr>
              <a:t>90% and help farmers grow more food.</a:t>
            </a:r>
          </a:p>
        </p:txBody>
      </p:sp>
      <p:sp>
        <p:nvSpPr>
          <p:cNvPr id="17" name="TextBox 16"/>
          <p:cNvSpPr txBox="1"/>
          <p:nvPr/>
        </p:nvSpPr>
        <p:spPr>
          <a:xfrm>
            <a:off x="318346" y="7674186"/>
            <a:ext cx="5215466" cy="311573"/>
          </a:xfrm>
          <a:prstGeom prst="rect">
            <a:avLst/>
          </a:prstGeom>
          <a:noFill/>
        </p:spPr>
        <p:txBody>
          <a:bodyPr wrap="square">
            <a:normAutofit/>
          </a:bodyPr>
          <a:lstStyle/>
          <a:p>
            <a:pPr algn="ctr"/>
            <a:r>
              <a:rPr sz="2800" b="1">
                <a:solidFill>
                  <a:srgbClr val="000000"/>
                </a:solidFill>
              </a:rPr>
              <a:t>Start with one crop, one pest class,</a:t>
            </a:r>
          </a:p>
        </p:txBody>
      </p:sp>
      <p:sp>
        <p:nvSpPr>
          <p:cNvPr id="18" name="TextBox 17"/>
          <p:cNvSpPr txBox="1"/>
          <p:nvPr/>
        </p:nvSpPr>
        <p:spPr>
          <a:xfrm>
            <a:off x="318346" y="8073813"/>
            <a:ext cx="5581226" cy="311573"/>
          </a:xfrm>
          <a:prstGeom prst="rect">
            <a:avLst/>
          </a:prstGeom>
          <a:noFill/>
        </p:spPr>
        <p:txBody>
          <a:bodyPr wrap="square">
            <a:normAutofit/>
          </a:bodyPr>
          <a:lstStyle/>
          <a:p>
            <a:pPr algn="ctr"/>
            <a:r>
              <a:rPr sz="2800" b="1">
                <a:solidFill>
                  <a:srgbClr val="000000"/>
                </a:solidFill>
              </a:rPr>
              <a:t>and one measurable reduction target.</a:t>
            </a:r>
          </a:p>
        </p:txBody>
      </p:sp>
      <p:sp>
        <p:nvSpPr>
          <p:cNvPr id="19" name="TextBox 18"/>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DYKyzOMCGal / slide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230293" y="1036320"/>
            <a:ext cx="1185333" cy="941493"/>
          </a:xfrm>
          <a:prstGeom prst="rect">
            <a:avLst/>
          </a:prstGeom>
          <a:solidFill>
            <a:srgbClr val="05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668693" y="2770293"/>
            <a:ext cx="3149600" cy="18288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920" y="2716106"/>
            <a:ext cx="6637866" cy="799253"/>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3569546"/>
            <a:ext cx="4185919" cy="1043093"/>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2560" y="4842933"/>
            <a:ext cx="5723466" cy="338666"/>
          </a:xfrm>
          <a:prstGeom prst="rect">
            <a:avLst/>
          </a:prstGeom>
          <a:solidFill>
            <a:srgbClr val="0909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9333" y="5317066"/>
            <a:ext cx="5025813" cy="433493"/>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9333" y="5804746"/>
            <a:ext cx="4599093" cy="426720"/>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8693" y="7288106"/>
            <a:ext cx="6509173" cy="460586"/>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5466" y="7748693"/>
            <a:ext cx="6021493" cy="460586"/>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0613" y="1158240"/>
            <a:ext cx="1144693" cy="697653"/>
          </a:xfrm>
          <a:prstGeom prst="rect">
            <a:avLst/>
          </a:prstGeom>
          <a:noFill/>
        </p:spPr>
        <p:txBody>
          <a:bodyPr wrap="square">
            <a:normAutofit/>
          </a:bodyPr>
          <a:lstStyle/>
          <a:p>
            <a:pPr algn="l"/>
            <a:r>
              <a:rPr sz="5800" b="1">
                <a:solidFill>
                  <a:srgbClr val="000000"/>
                </a:solidFill>
              </a:rPr>
              <a:t>02</a:t>
            </a:r>
          </a:p>
        </p:txBody>
      </p:sp>
      <p:sp>
        <p:nvSpPr>
          <p:cNvPr id="13" name="TextBox 12"/>
          <p:cNvSpPr txBox="1"/>
          <p:nvPr/>
        </p:nvSpPr>
        <p:spPr>
          <a:xfrm>
            <a:off x="2722880" y="2797386"/>
            <a:ext cx="3041226" cy="135466"/>
          </a:xfrm>
          <a:prstGeom prst="rect">
            <a:avLst/>
          </a:prstGeom>
          <a:noFill/>
        </p:spPr>
        <p:txBody>
          <a:bodyPr wrap="square">
            <a:normAutofit/>
          </a:bodyPr>
          <a:lstStyle/>
          <a:p>
            <a:pPr algn="l"/>
            <a:r>
              <a:rPr sz="1100" b="0">
                <a:solidFill>
                  <a:srgbClr val="060606"/>
                </a:solidFill>
              </a:rPr>
              <a:t>e e</a:t>
            </a:r>
          </a:p>
        </p:txBody>
      </p:sp>
      <p:sp>
        <p:nvSpPr>
          <p:cNvPr id="14" name="TextBox 13"/>
          <p:cNvSpPr txBox="1"/>
          <p:nvPr/>
        </p:nvSpPr>
        <p:spPr>
          <a:xfrm>
            <a:off x="243840" y="2817706"/>
            <a:ext cx="6394026" cy="596053"/>
          </a:xfrm>
          <a:prstGeom prst="rect">
            <a:avLst/>
          </a:prstGeom>
          <a:noFill/>
        </p:spPr>
        <p:txBody>
          <a:bodyPr wrap="square">
            <a:normAutofit/>
          </a:bodyPr>
          <a:lstStyle/>
          <a:p>
            <a:pPr algn="ctr"/>
            <a:r>
              <a:rPr sz="5400" b="1">
                <a:solidFill>
                  <a:srgbClr val="050505"/>
                </a:solidFill>
              </a:rPr>
              <a:t>Al-Native Service</a:t>
            </a:r>
          </a:p>
        </p:txBody>
      </p:sp>
      <p:sp>
        <p:nvSpPr>
          <p:cNvPr id="15" name="TextBox 14"/>
          <p:cNvSpPr txBox="1"/>
          <p:nvPr/>
        </p:nvSpPr>
        <p:spPr>
          <a:xfrm>
            <a:off x="257386" y="3705013"/>
            <a:ext cx="4036906" cy="772160"/>
          </a:xfrm>
          <a:prstGeom prst="rect">
            <a:avLst/>
          </a:prstGeom>
          <a:noFill/>
        </p:spPr>
        <p:txBody>
          <a:bodyPr wrap="square">
            <a:normAutofit/>
          </a:bodyPr>
          <a:lstStyle/>
          <a:p>
            <a:pPr algn="ctr"/>
            <a:r>
              <a:rPr sz="5800" b="1">
                <a:solidFill>
                  <a:srgbClr val="050505"/>
                </a:solidFill>
              </a:rPr>
              <a:t>Companies</a:t>
            </a:r>
          </a:p>
        </p:txBody>
      </p:sp>
      <p:sp>
        <p:nvSpPr>
          <p:cNvPr id="16" name="TextBox 15"/>
          <p:cNvSpPr txBox="1"/>
          <p:nvPr/>
        </p:nvSpPr>
        <p:spPr>
          <a:xfrm>
            <a:off x="270933" y="4883573"/>
            <a:ext cx="5506720" cy="257386"/>
          </a:xfrm>
          <a:prstGeom prst="rect">
            <a:avLst/>
          </a:prstGeom>
          <a:noFill/>
        </p:spPr>
        <p:txBody>
          <a:bodyPr wrap="square">
            <a:normAutofit/>
          </a:bodyPr>
          <a:lstStyle/>
          <a:p>
            <a:pPr algn="ctr"/>
            <a:r>
              <a:rPr sz="2300" b="0">
                <a:solidFill>
                  <a:srgbClr val="040404"/>
                </a:solidFill>
              </a:rPr>
              <a:t>Do not sell software. Sell the service:</a:t>
            </a:r>
          </a:p>
        </p:txBody>
      </p:sp>
      <p:sp>
        <p:nvSpPr>
          <p:cNvPr id="17" name="TextBox 16"/>
          <p:cNvSpPr txBox="1"/>
          <p:nvPr/>
        </p:nvSpPr>
        <p:spPr>
          <a:xfrm>
            <a:off x="264160" y="5371253"/>
            <a:ext cx="4836160" cy="325120"/>
          </a:xfrm>
          <a:prstGeom prst="rect">
            <a:avLst/>
          </a:prstGeom>
          <a:noFill/>
        </p:spPr>
        <p:txBody>
          <a:bodyPr wrap="square">
            <a:normAutofit/>
          </a:bodyPr>
          <a:lstStyle/>
          <a:p>
            <a:pPr algn="ctr"/>
            <a:r>
              <a:rPr sz="2900" b="1">
                <a:solidFill>
                  <a:srgbClr val="040404"/>
                </a:solidFill>
              </a:rPr>
              <a:t>insurance brokerage, accounting,</a:t>
            </a:r>
          </a:p>
        </p:txBody>
      </p:sp>
      <p:sp>
        <p:nvSpPr>
          <p:cNvPr id="18" name="TextBox 17"/>
          <p:cNvSpPr txBox="1"/>
          <p:nvPr/>
        </p:nvSpPr>
        <p:spPr>
          <a:xfrm>
            <a:off x="257386" y="5858933"/>
            <a:ext cx="4422986" cy="318346"/>
          </a:xfrm>
          <a:prstGeom prst="rect">
            <a:avLst/>
          </a:prstGeom>
          <a:noFill/>
        </p:spPr>
        <p:txBody>
          <a:bodyPr wrap="square">
            <a:normAutofit/>
          </a:bodyPr>
          <a:lstStyle/>
          <a:p>
            <a:pPr algn="ctr"/>
            <a:r>
              <a:rPr sz="2900" b="1">
                <a:solidFill>
                  <a:srgbClr val="040404"/>
                </a:solidFill>
              </a:rPr>
              <a:t>compliance, healthcare admin.</a:t>
            </a:r>
          </a:p>
        </p:txBody>
      </p:sp>
      <p:sp>
        <p:nvSpPr>
          <p:cNvPr id="19" name="TextBox 18"/>
          <p:cNvSpPr txBox="1"/>
          <p:nvPr/>
        </p:nvSpPr>
        <p:spPr>
          <a:xfrm>
            <a:off x="250613" y="7349066"/>
            <a:ext cx="6265333" cy="338666"/>
          </a:xfrm>
          <a:prstGeom prst="rect">
            <a:avLst/>
          </a:prstGeom>
          <a:noFill/>
        </p:spPr>
        <p:txBody>
          <a:bodyPr wrap="square">
            <a:normAutofit/>
          </a:bodyPr>
          <a:lstStyle/>
          <a:p>
            <a:pPr algn="ctr"/>
            <a:r>
              <a:rPr sz="3100" b="1">
                <a:solidFill>
                  <a:srgbClr val="040404"/>
                </a:solidFill>
              </a:rPr>
              <a:t>The company is the product. Software is</a:t>
            </a:r>
          </a:p>
        </p:txBody>
      </p:sp>
      <p:sp>
        <p:nvSpPr>
          <p:cNvPr id="20" name="TextBox 19"/>
          <p:cNvSpPr txBox="1"/>
          <p:nvPr/>
        </p:nvSpPr>
        <p:spPr>
          <a:xfrm>
            <a:off x="250613" y="7809653"/>
            <a:ext cx="5791200" cy="338666"/>
          </a:xfrm>
          <a:prstGeom prst="rect">
            <a:avLst/>
          </a:prstGeom>
          <a:noFill/>
        </p:spPr>
        <p:txBody>
          <a:bodyPr wrap="square">
            <a:normAutofit/>
          </a:bodyPr>
          <a:lstStyle/>
          <a:p>
            <a:pPr algn="ctr"/>
            <a:r>
              <a:rPr sz="3100" b="1">
                <a:solidFill>
                  <a:srgbClr val="040404"/>
                </a:solidFill>
              </a:rPr>
              <a:t>the margin engine behind the service.</a:t>
            </a:r>
          </a:p>
        </p:txBody>
      </p:sp>
      <p:sp>
        <p:nvSpPr>
          <p:cNvPr id="21" name="TextBox 20"/>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DYKyzOMCGal / slide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338666" y="1070186"/>
            <a:ext cx="1361440" cy="92794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3173" y="2614506"/>
            <a:ext cx="6177280" cy="873760"/>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4453" y="3610186"/>
            <a:ext cx="3623733" cy="873760"/>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94453" y="4748106"/>
            <a:ext cx="3406986" cy="440266"/>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0906" y="5229013"/>
            <a:ext cx="3210560" cy="460586"/>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74133" y="5723466"/>
            <a:ext cx="3677920" cy="440266"/>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7040" y="6211146"/>
            <a:ext cx="4294293" cy="440266"/>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7040" y="7450666"/>
            <a:ext cx="4971626" cy="372533"/>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493" y="7870613"/>
            <a:ext cx="5676053" cy="467359"/>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4133" y="8317653"/>
            <a:ext cx="3149600" cy="372533"/>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986" y="1192106"/>
            <a:ext cx="1320800" cy="684106"/>
          </a:xfrm>
          <a:prstGeom prst="rect">
            <a:avLst/>
          </a:prstGeom>
          <a:noFill/>
        </p:spPr>
        <p:txBody>
          <a:bodyPr wrap="square">
            <a:normAutofit/>
          </a:bodyPr>
          <a:lstStyle/>
          <a:p>
            <a:pPr algn="l"/>
            <a:r>
              <a:rPr sz="5800" b="1">
                <a:solidFill>
                  <a:srgbClr val="000000"/>
                </a:solidFill>
              </a:rPr>
              <a:t>03 e</a:t>
            </a:r>
          </a:p>
        </p:txBody>
      </p:sp>
      <p:sp>
        <p:nvSpPr>
          <p:cNvPr id="14" name="TextBox 13"/>
          <p:cNvSpPr txBox="1"/>
          <p:nvPr/>
        </p:nvSpPr>
        <p:spPr>
          <a:xfrm>
            <a:off x="528320" y="2729653"/>
            <a:ext cx="5946986" cy="643466"/>
          </a:xfrm>
          <a:prstGeom prst="rect">
            <a:avLst/>
          </a:prstGeom>
          <a:noFill/>
        </p:spPr>
        <p:txBody>
          <a:bodyPr wrap="square">
            <a:normAutofit/>
          </a:bodyPr>
          <a:lstStyle/>
          <a:p>
            <a:pPr algn="ctr"/>
            <a:r>
              <a:rPr sz="5800" b="1">
                <a:solidFill>
                  <a:srgbClr val="050505"/>
                </a:solidFill>
              </a:rPr>
              <a:t>Al Personalized</a:t>
            </a:r>
          </a:p>
        </p:txBody>
      </p:sp>
      <p:sp>
        <p:nvSpPr>
          <p:cNvPr id="15" name="TextBox 14"/>
          <p:cNvSpPr txBox="1"/>
          <p:nvPr/>
        </p:nvSpPr>
        <p:spPr>
          <a:xfrm>
            <a:off x="562186" y="3725333"/>
            <a:ext cx="3488266" cy="643466"/>
          </a:xfrm>
          <a:prstGeom prst="rect">
            <a:avLst/>
          </a:prstGeom>
          <a:noFill/>
        </p:spPr>
        <p:txBody>
          <a:bodyPr wrap="square">
            <a:normAutofit/>
          </a:bodyPr>
          <a:lstStyle/>
          <a:p>
            <a:pPr algn="ctr"/>
            <a:r>
              <a:rPr sz="5800" b="1">
                <a:solidFill>
                  <a:srgbClr val="050505"/>
                </a:solidFill>
              </a:rPr>
              <a:t>Medicine</a:t>
            </a:r>
          </a:p>
        </p:txBody>
      </p:sp>
      <p:sp>
        <p:nvSpPr>
          <p:cNvPr id="16" name="TextBox 15"/>
          <p:cNvSpPr txBox="1"/>
          <p:nvPr/>
        </p:nvSpPr>
        <p:spPr>
          <a:xfrm>
            <a:off x="555413" y="4802293"/>
            <a:ext cx="3285066" cy="331893"/>
          </a:xfrm>
          <a:prstGeom prst="rect">
            <a:avLst/>
          </a:prstGeom>
          <a:noFill/>
        </p:spPr>
        <p:txBody>
          <a:bodyPr wrap="square">
            <a:normAutofit/>
          </a:bodyPr>
          <a:lstStyle/>
          <a:p>
            <a:pPr algn="l"/>
            <a:r>
              <a:rPr sz="3000" b="1">
                <a:solidFill>
                  <a:srgbClr val="040404"/>
                </a:solidFill>
              </a:rPr>
              <a:t>Use intelligent agents,</a:t>
            </a:r>
          </a:p>
        </p:txBody>
      </p:sp>
      <p:sp>
        <p:nvSpPr>
          <p:cNvPr id="17" name="TextBox 16"/>
          <p:cNvSpPr txBox="1"/>
          <p:nvPr/>
        </p:nvSpPr>
        <p:spPr>
          <a:xfrm>
            <a:off x="541866" y="5289973"/>
            <a:ext cx="3088640" cy="338666"/>
          </a:xfrm>
          <a:prstGeom prst="rect">
            <a:avLst/>
          </a:prstGeom>
          <a:noFill/>
        </p:spPr>
        <p:txBody>
          <a:bodyPr wrap="square">
            <a:normAutofit/>
          </a:bodyPr>
          <a:lstStyle/>
          <a:p>
            <a:pPr algn="l"/>
            <a:r>
              <a:rPr sz="3100" b="1">
                <a:solidFill>
                  <a:srgbClr val="040404"/>
                </a:solidFill>
              </a:rPr>
              <a:t>cheaper diagnostics,</a:t>
            </a:r>
          </a:p>
        </p:txBody>
      </p:sp>
      <p:sp>
        <p:nvSpPr>
          <p:cNvPr id="18" name="TextBox 17"/>
          <p:cNvSpPr txBox="1"/>
          <p:nvPr/>
        </p:nvSpPr>
        <p:spPr>
          <a:xfrm>
            <a:off x="541866" y="5777653"/>
            <a:ext cx="3542453" cy="331893"/>
          </a:xfrm>
          <a:prstGeom prst="rect">
            <a:avLst/>
          </a:prstGeom>
          <a:noFill/>
        </p:spPr>
        <p:txBody>
          <a:bodyPr wrap="square">
            <a:normAutofit/>
          </a:bodyPr>
          <a:lstStyle/>
          <a:p>
            <a:pPr algn="ctr"/>
            <a:r>
              <a:rPr sz="3000" b="1">
                <a:solidFill>
                  <a:srgbClr val="040404"/>
                </a:solidFill>
              </a:rPr>
              <a:t>and n-of-1 genetic data</a:t>
            </a:r>
          </a:p>
        </p:txBody>
      </p:sp>
      <p:sp>
        <p:nvSpPr>
          <p:cNvPr id="19" name="TextBox 18"/>
          <p:cNvSpPr txBox="1"/>
          <p:nvPr/>
        </p:nvSpPr>
        <p:spPr>
          <a:xfrm>
            <a:off x="528320" y="6265333"/>
            <a:ext cx="4131733" cy="331893"/>
          </a:xfrm>
          <a:prstGeom prst="rect">
            <a:avLst/>
          </a:prstGeom>
          <a:noFill/>
        </p:spPr>
        <p:txBody>
          <a:bodyPr wrap="square">
            <a:normAutofit/>
          </a:bodyPr>
          <a:lstStyle/>
          <a:p>
            <a:pPr algn="ctr"/>
            <a:r>
              <a:rPr sz="3000" b="1">
                <a:solidFill>
                  <a:srgbClr val="040404"/>
                </a:solidFill>
              </a:rPr>
              <a:t>to deliver personalized care.</a:t>
            </a:r>
          </a:p>
        </p:txBody>
      </p:sp>
      <p:sp>
        <p:nvSpPr>
          <p:cNvPr id="20" name="TextBox 19"/>
          <p:cNvSpPr txBox="1"/>
          <p:nvPr/>
        </p:nvSpPr>
        <p:spPr>
          <a:xfrm>
            <a:off x="541866" y="7498079"/>
            <a:ext cx="4781973" cy="277706"/>
          </a:xfrm>
          <a:prstGeom prst="rect">
            <a:avLst/>
          </a:prstGeom>
          <a:noFill/>
        </p:spPr>
        <p:txBody>
          <a:bodyPr wrap="square">
            <a:normAutofit/>
          </a:bodyPr>
          <a:lstStyle/>
          <a:p>
            <a:pPr algn="ctr"/>
            <a:r>
              <a:rPr sz="2500" b="0">
                <a:solidFill>
                  <a:srgbClr val="040404"/>
                </a:solidFill>
              </a:rPr>
              <a:t>Pick a narrow condition where</a:t>
            </a:r>
          </a:p>
        </p:txBody>
      </p:sp>
      <p:sp>
        <p:nvSpPr>
          <p:cNvPr id="21" name="TextBox 20"/>
          <p:cNvSpPr txBox="1"/>
          <p:nvPr/>
        </p:nvSpPr>
        <p:spPr>
          <a:xfrm>
            <a:off x="541866" y="7931573"/>
            <a:ext cx="5459306" cy="345440"/>
          </a:xfrm>
          <a:prstGeom prst="rect">
            <a:avLst/>
          </a:prstGeom>
          <a:noFill/>
        </p:spPr>
        <p:txBody>
          <a:bodyPr wrap="square">
            <a:normAutofit/>
          </a:bodyPr>
          <a:lstStyle/>
          <a:p>
            <a:pPr algn="ctr"/>
            <a:r>
              <a:rPr sz="3100" b="1">
                <a:solidFill>
                  <a:srgbClr val="040404"/>
                </a:solidFill>
              </a:rPr>
              <a:t>personalization changes the actual</a:t>
            </a:r>
          </a:p>
        </p:txBody>
      </p:sp>
      <p:sp>
        <p:nvSpPr>
          <p:cNvPr id="22" name="TextBox 21"/>
          <p:cNvSpPr txBox="1"/>
          <p:nvPr/>
        </p:nvSpPr>
        <p:spPr>
          <a:xfrm>
            <a:off x="528320" y="8365066"/>
            <a:ext cx="3041226" cy="277706"/>
          </a:xfrm>
          <a:prstGeom prst="rect">
            <a:avLst/>
          </a:prstGeom>
          <a:noFill/>
        </p:spPr>
        <p:txBody>
          <a:bodyPr wrap="square">
            <a:normAutofit/>
          </a:bodyPr>
          <a:lstStyle/>
          <a:p>
            <a:pPr algn="l"/>
            <a:r>
              <a:rPr sz="2500" b="0">
                <a:solidFill>
                  <a:srgbClr val="030303"/>
                </a:solidFill>
              </a:rPr>
              <a:t>treatment decision.</a:t>
            </a:r>
          </a:p>
        </p:txBody>
      </p:sp>
      <p:sp>
        <p:nvSpPr>
          <p:cNvPr id="23" name="TextBox 22"/>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DYKyzOMCGal / slide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338666" y="1070186"/>
            <a:ext cx="1361440" cy="927946"/>
          </a:xfrm>
          <a:prstGeom prst="rect">
            <a:avLst/>
          </a:prstGeom>
          <a:solidFill>
            <a:srgbClr val="0101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9946" y="3901440"/>
            <a:ext cx="5709920" cy="1036320"/>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9946" y="5032586"/>
            <a:ext cx="6150186" cy="379306"/>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3493" y="5486400"/>
            <a:ext cx="5052906" cy="379306"/>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6400" y="6956213"/>
            <a:ext cx="5987626" cy="392853"/>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9946" y="7403253"/>
            <a:ext cx="5086773" cy="379306"/>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4453" y="7857066"/>
            <a:ext cx="1727200" cy="318346"/>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8986" y="1192106"/>
            <a:ext cx="1320800" cy="684106"/>
          </a:xfrm>
          <a:prstGeom prst="rect">
            <a:avLst/>
          </a:prstGeom>
          <a:noFill/>
        </p:spPr>
        <p:txBody>
          <a:bodyPr wrap="square">
            <a:normAutofit/>
          </a:bodyPr>
          <a:lstStyle/>
          <a:p>
            <a:pPr algn="l"/>
            <a:r>
              <a:rPr sz="5800" b="1">
                <a:solidFill>
                  <a:srgbClr val="000000"/>
                </a:solidFill>
              </a:rPr>
              <a:t>04.</a:t>
            </a:r>
          </a:p>
        </p:txBody>
      </p:sp>
      <p:sp>
        <p:nvSpPr>
          <p:cNvPr id="11" name="TextBox 10"/>
          <p:cNvSpPr txBox="1"/>
          <p:nvPr/>
        </p:nvSpPr>
        <p:spPr>
          <a:xfrm>
            <a:off x="528320" y="4036906"/>
            <a:ext cx="5493173" cy="765386"/>
          </a:xfrm>
          <a:prstGeom prst="rect">
            <a:avLst/>
          </a:prstGeom>
          <a:noFill/>
        </p:spPr>
        <p:txBody>
          <a:bodyPr wrap="square">
            <a:normAutofit/>
          </a:bodyPr>
          <a:lstStyle/>
          <a:p>
            <a:pPr algn="ctr"/>
            <a:r>
              <a:rPr sz="5800" b="1">
                <a:solidFill>
                  <a:srgbClr val="030303"/>
                </a:solidFill>
              </a:rPr>
              <a:t>Company Brain</a:t>
            </a:r>
          </a:p>
        </p:txBody>
      </p:sp>
      <p:sp>
        <p:nvSpPr>
          <p:cNvPr id="12" name="TextBox 11"/>
          <p:cNvSpPr txBox="1"/>
          <p:nvPr/>
        </p:nvSpPr>
        <p:spPr>
          <a:xfrm>
            <a:off x="535093" y="5080000"/>
            <a:ext cx="5919893" cy="284480"/>
          </a:xfrm>
          <a:prstGeom prst="rect">
            <a:avLst/>
          </a:prstGeom>
          <a:noFill/>
        </p:spPr>
        <p:txBody>
          <a:bodyPr wrap="square">
            <a:normAutofit/>
          </a:bodyPr>
          <a:lstStyle/>
          <a:p>
            <a:pPr algn="ctr"/>
            <a:r>
              <a:rPr sz="2600" b="0">
                <a:solidFill>
                  <a:srgbClr val="020202"/>
                </a:solidFill>
              </a:rPr>
              <a:t>Extract scattered company knowledge into a</a:t>
            </a:r>
          </a:p>
        </p:txBody>
      </p:sp>
      <p:sp>
        <p:nvSpPr>
          <p:cNvPr id="13" name="TextBox 12"/>
          <p:cNvSpPr txBox="1"/>
          <p:nvPr/>
        </p:nvSpPr>
        <p:spPr>
          <a:xfrm>
            <a:off x="528320" y="5533813"/>
            <a:ext cx="4863253" cy="284480"/>
          </a:xfrm>
          <a:prstGeom prst="rect">
            <a:avLst/>
          </a:prstGeom>
          <a:noFill/>
        </p:spPr>
        <p:txBody>
          <a:bodyPr wrap="square">
            <a:normAutofit/>
          </a:bodyPr>
          <a:lstStyle/>
          <a:p>
            <a:pPr algn="ctr"/>
            <a:r>
              <a:rPr sz="2600" b="0">
                <a:solidFill>
                  <a:srgbClr val="020202"/>
                </a:solidFill>
              </a:rPr>
              <a:t>living map of how a company works.</a:t>
            </a:r>
          </a:p>
        </p:txBody>
      </p:sp>
      <p:sp>
        <p:nvSpPr>
          <p:cNvPr id="14" name="TextBox 13"/>
          <p:cNvSpPr txBox="1"/>
          <p:nvPr/>
        </p:nvSpPr>
        <p:spPr>
          <a:xfrm>
            <a:off x="521546" y="7003626"/>
            <a:ext cx="5757333" cy="298026"/>
          </a:xfrm>
          <a:prstGeom prst="rect">
            <a:avLst/>
          </a:prstGeom>
          <a:noFill/>
        </p:spPr>
        <p:txBody>
          <a:bodyPr wrap="square">
            <a:normAutofit/>
          </a:bodyPr>
          <a:lstStyle/>
          <a:p>
            <a:pPr algn="ctr"/>
            <a:r>
              <a:rPr sz="2700" b="0">
                <a:solidFill>
                  <a:srgbClr val="020202"/>
                </a:solidFill>
              </a:rPr>
              <a:t>Institutional memory becomes valuable</a:t>
            </a:r>
          </a:p>
        </p:txBody>
      </p:sp>
      <p:sp>
        <p:nvSpPr>
          <p:cNvPr id="15" name="TextBox 14"/>
          <p:cNvSpPr txBox="1"/>
          <p:nvPr/>
        </p:nvSpPr>
        <p:spPr>
          <a:xfrm>
            <a:off x="514773" y="7450666"/>
            <a:ext cx="4897120" cy="284480"/>
          </a:xfrm>
          <a:prstGeom prst="rect">
            <a:avLst/>
          </a:prstGeom>
          <a:noFill/>
        </p:spPr>
        <p:txBody>
          <a:bodyPr wrap="square">
            <a:normAutofit/>
          </a:bodyPr>
          <a:lstStyle/>
          <a:p>
            <a:pPr algn="ctr"/>
            <a:r>
              <a:rPr sz="2600" b="0">
                <a:solidFill>
                  <a:srgbClr val="020202"/>
                </a:solidFill>
              </a:rPr>
              <a:t>when it is current, connected, and</a:t>
            </a:r>
          </a:p>
        </p:txBody>
      </p:sp>
      <p:sp>
        <p:nvSpPr>
          <p:cNvPr id="16" name="TextBox 15"/>
          <p:cNvSpPr txBox="1"/>
          <p:nvPr/>
        </p:nvSpPr>
        <p:spPr>
          <a:xfrm>
            <a:off x="521546" y="7897706"/>
            <a:ext cx="1673013" cy="237066"/>
          </a:xfrm>
          <a:prstGeom prst="rect">
            <a:avLst/>
          </a:prstGeom>
          <a:noFill/>
        </p:spPr>
        <p:txBody>
          <a:bodyPr wrap="square">
            <a:normAutofit/>
          </a:bodyPr>
          <a:lstStyle/>
          <a:p>
            <a:pPr algn="l"/>
            <a:r>
              <a:rPr sz="2100" b="0">
                <a:solidFill>
                  <a:srgbClr val="020202"/>
                </a:solidFill>
              </a:rPr>
              <a:t>executable.</a:t>
            </a:r>
          </a:p>
        </p:txBody>
      </p:sp>
      <p:sp>
        <p:nvSpPr>
          <p:cNvPr id="17" name="TextBox 16"/>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DYKyzOMCGal / slide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338666" y="1036320"/>
            <a:ext cx="1090506" cy="941493"/>
          </a:xfrm>
          <a:prstGeom prst="rect">
            <a:avLst/>
          </a:prstGeom>
          <a:solidFill>
            <a:srgbClr val="07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03200" y="3447626"/>
            <a:ext cx="6360160" cy="846666"/>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09973" y="5486400"/>
            <a:ext cx="6671733" cy="365760"/>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3200" y="5919893"/>
            <a:ext cx="6902026" cy="358986"/>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9973" y="7437120"/>
            <a:ext cx="5384800" cy="474133"/>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3520" y="7877386"/>
            <a:ext cx="4870026" cy="318346"/>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4480" y="8263466"/>
            <a:ext cx="1693333" cy="386080"/>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8986" y="1158240"/>
            <a:ext cx="1049866" cy="697653"/>
          </a:xfrm>
          <a:prstGeom prst="rect">
            <a:avLst/>
          </a:prstGeom>
          <a:noFill/>
        </p:spPr>
        <p:txBody>
          <a:bodyPr wrap="square">
            <a:normAutofit/>
          </a:bodyPr>
          <a:lstStyle/>
          <a:p>
            <a:pPr algn="l"/>
            <a:r>
              <a:rPr sz="5800" b="1">
                <a:solidFill>
                  <a:srgbClr val="000000"/>
                </a:solidFill>
              </a:rPr>
              <a:t>05</a:t>
            </a:r>
          </a:p>
        </p:txBody>
      </p:sp>
      <p:sp>
        <p:nvSpPr>
          <p:cNvPr id="11" name="TextBox 10"/>
          <p:cNvSpPr txBox="1"/>
          <p:nvPr/>
        </p:nvSpPr>
        <p:spPr>
          <a:xfrm>
            <a:off x="325120" y="3556000"/>
            <a:ext cx="6116320" cy="629920"/>
          </a:xfrm>
          <a:prstGeom prst="rect">
            <a:avLst/>
          </a:prstGeom>
          <a:noFill/>
        </p:spPr>
        <p:txBody>
          <a:bodyPr wrap="square">
            <a:normAutofit/>
          </a:bodyPr>
          <a:lstStyle/>
          <a:p>
            <a:pPr algn="ctr"/>
            <a:r>
              <a:rPr sz="5700" b="1">
                <a:solidFill>
                  <a:srgbClr val="030303"/>
                </a:solidFill>
              </a:rPr>
              <a:t>Counter-Swarm</a:t>
            </a:r>
          </a:p>
        </p:txBody>
      </p:sp>
      <p:sp>
        <p:nvSpPr>
          <p:cNvPr id="12" name="TextBox 11"/>
          <p:cNvSpPr txBox="1"/>
          <p:nvPr/>
        </p:nvSpPr>
        <p:spPr>
          <a:xfrm>
            <a:off x="331893" y="5533813"/>
            <a:ext cx="6427893" cy="270933"/>
          </a:xfrm>
          <a:prstGeom prst="rect">
            <a:avLst/>
          </a:prstGeom>
          <a:noFill/>
        </p:spPr>
        <p:txBody>
          <a:bodyPr wrap="square">
            <a:normAutofit/>
          </a:bodyPr>
          <a:lstStyle/>
          <a:p>
            <a:pPr algn="ctr"/>
            <a:r>
              <a:rPr sz="2400" b="0">
                <a:solidFill>
                  <a:srgbClr val="020202"/>
                </a:solidFill>
              </a:rPr>
              <a:t>Build the counter-drone stack for incoming swarms:</a:t>
            </a:r>
          </a:p>
        </p:txBody>
      </p:sp>
      <p:sp>
        <p:nvSpPr>
          <p:cNvPr id="13" name="TextBox 12"/>
          <p:cNvSpPr txBox="1"/>
          <p:nvPr/>
        </p:nvSpPr>
        <p:spPr>
          <a:xfrm>
            <a:off x="331893" y="5967306"/>
            <a:ext cx="6644640" cy="264160"/>
          </a:xfrm>
          <a:prstGeom prst="rect">
            <a:avLst/>
          </a:prstGeom>
          <a:noFill/>
        </p:spPr>
        <p:txBody>
          <a:bodyPr wrap="square">
            <a:normAutofit/>
          </a:bodyPr>
          <a:lstStyle/>
          <a:p>
            <a:pPr algn="ctr"/>
            <a:r>
              <a:rPr sz="2400" b="0">
                <a:solidFill>
                  <a:srgbClr val="030303"/>
                </a:solidFill>
              </a:rPr>
              <a:t>interceptors, fused sensors, and non-kinetic defenses.</a:t>
            </a:r>
          </a:p>
        </p:txBody>
      </p:sp>
      <p:sp>
        <p:nvSpPr>
          <p:cNvPr id="14" name="TextBox 13"/>
          <p:cNvSpPr txBox="1"/>
          <p:nvPr/>
        </p:nvSpPr>
        <p:spPr>
          <a:xfrm>
            <a:off x="311573" y="7498079"/>
            <a:ext cx="5181600" cy="352213"/>
          </a:xfrm>
          <a:prstGeom prst="rect">
            <a:avLst/>
          </a:prstGeom>
          <a:noFill/>
        </p:spPr>
        <p:txBody>
          <a:bodyPr wrap="square">
            <a:normAutofit/>
          </a:bodyPr>
          <a:lstStyle/>
          <a:p>
            <a:pPr algn="ctr"/>
            <a:r>
              <a:rPr sz="3200" b="1">
                <a:solidFill>
                  <a:srgbClr val="030303"/>
                </a:solidFill>
              </a:rPr>
              <a:t>A reliable full system beats a point tool</a:t>
            </a:r>
          </a:p>
        </p:txBody>
      </p:sp>
      <p:sp>
        <p:nvSpPr>
          <p:cNvPr id="15" name="TextBox 14"/>
          <p:cNvSpPr txBox="1"/>
          <p:nvPr/>
        </p:nvSpPr>
        <p:spPr>
          <a:xfrm>
            <a:off x="311573" y="7918026"/>
            <a:ext cx="4693920" cy="237066"/>
          </a:xfrm>
          <a:prstGeom prst="rect">
            <a:avLst/>
          </a:prstGeom>
          <a:noFill/>
        </p:spPr>
        <p:txBody>
          <a:bodyPr wrap="square">
            <a:normAutofit/>
          </a:bodyPr>
          <a:lstStyle/>
          <a:p>
            <a:pPr algn="ctr"/>
            <a:r>
              <a:rPr sz="2100" b="0">
                <a:solidFill>
                  <a:srgbClr val="030303"/>
                </a:solidFill>
              </a:rPr>
              <a:t>when threats move fast and data is</a:t>
            </a:r>
          </a:p>
        </p:txBody>
      </p:sp>
      <p:sp>
        <p:nvSpPr>
          <p:cNvPr id="16" name="TextBox 15"/>
          <p:cNvSpPr txBox="1"/>
          <p:nvPr/>
        </p:nvSpPr>
        <p:spPr>
          <a:xfrm>
            <a:off x="311573" y="8310880"/>
            <a:ext cx="1639146" cy="291253"/>
          </a:xfrm>
          <a:prstGeom prst="rect">
            <a:avLst/>
          </a:prstGeom>
          <a:noFill/>
        </p:spPr>
        <p:txBody>
          <a:bodyPr wrap="square">
            <a:normAutofit/>
          </a:bodyPr>
          <a:lstStyle/>
          <a:p>
            <a:pPr algn="l"/>
            <a:r>
              <a:rPr sz="2600" b="0">
                <a:solidFill>
                  <a:srgbClr val="030303"/>
                </a:solidFill>
              </a:rPr>
              <a:t>fragmented.</a:t>
            </a:r>
          </a:p>
        </p:txBody>
      </p:sp>
      <p:sp>
        <p:nvSpPr>
          <p:cNvPr id="17" name="TextBox 16"/>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DYKyzOMCGal / slide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331893" y="1070186"/>
            <a:ext cx="1124373" cy="927946"/>
          </a:xfrm>
          <a:prstGeom prst="rect">
            <a:avLst/>
          </a:prstGeom>
          <a:solidFill>
            <a:srgbClr val="08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98026" y="3224106"/>
            <a:ext cx="6773333" cy="988906"/>
          </a:xfrm>
          <a:prstGeom prst="rect">
            <a:avLst/>
          </a:prstGeom>
          <a:solidFill>
            <a:srgbClr val="0404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58986" y="4138506"/>
            <a:ext cx="3759199" cy="799253"/>
          </a:xfrm>
          <a:prstGeom prst="rect">
            <a:avLst/>
          </a:prstGeom>
          <a:solidFill>
            <a:srgbClr val="0404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91253" y="5310293"/>
            <a:ext cx="5750560" cy="331893"/>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4160" y="5723466"/>
            <a:ext cx="6827520" cy="331893"/>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98026" y="7261013"/>
            <a:ext cx="4714240" cy="358986"/>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1253" y="7653866"/>
            <a:ext cx="5615093" cy="338666"/>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8039946"/>
            <a:ext cx="1334346" cy="284480"/>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213" y="1192106"/>
            <a:ext cx="1083733" cy="684106"/>
          </a:xfrm>
          <a:prstGeom prst="rect">
            <a:avLst/>
          </a:prstGeom>
          <a:noFill/>
        </p:spPr>
        <p:txBody>
          <a:bodyPr wrap="square">
            <a:normAutofit/>
          </a:bodyPr>
          <a:lstStyle/>
          <a:p>
            <a:pPr algn="l"/>
            <a:r>
              <a:rPr sz="5800" b="1">
                <a:solidFill>
                  <a:srgbClr val="000000"/>
                </a:solidFill>
              </a:rPr>
              <a:t>06.</a:t>
            </a:r>
          </a:p>
        </p:txBody>
      </p:sp>
      <p:sp>
        <p:nvSpPr>
          <p:cNvPr id="12" name="TextBox 11"/>
          <p:cNvSpPr txBox="1"/>
          <p:nvPr/>
        </p:nvSpPr>
        <p:spPr>
          <a:xfrm>
            <a:off x="426720" y="3352800"/>
            <a:ext cx="6515946" cy="731520"/>
          </a:xfrm>
          <a:prstGeom prst="rect">
            <a:avLst/>
          </a:prstGeom>
          <a:noFill/>
        </p:spPr>
        <p:txBody>
          <a:bodyPr wrap="square">
            <a:normAutofit/>
          </a:bodyPr>
          <a:lstStyle/>
          <a:p>
            <a:pPr algn="ctr"/>
            <a:r>
              <a:rPr sz="5800" b="1">
                <a:solidFill>
                  <a:srgbClr val="020202"/>
                </a:solidFill>
              </a:rPr>
              <a:t>Dynamic Software</a:t>
            </a:r>
          </a:p>
        </p:txBody>
      </p:sp>
      <p:sp>
        <p:nvSpPr>
          <p:cNvPr id="13" name="TextBox 12"/>
          <p:cNvSpPr txBox="1"/>
          <p:nvPr/>
        </p:nvSpPr>
        <p:spPr>
          <a:xfrm>
            <a:off x="426720" y="4240106"/>
            <a:ext cx="3623733" cy="596053"/>
          </a:xfrm>
          <a:prstGeom prst="rect">
            <a:avLst/>
          </a:prstGeom>
          <a:noFill/>
        </p:spPr>
        <p:txBody>
          <a:bodyPr wrap="square">
            <a:normAutofit/>
          </a:bodyPr>
          <a:lstStyle/>
          <a:p>
            <a:pPr algn="ctr"/>
            <a:r>
              <a:rPr sz="5400" b="1">
                <a:solidFill>
                  <a:srgbClr val="020202"/>
                </a:solidFill>
              </a:rPr>
              <a:t>Interfaces</a:t>
            </a:r>
          </a:p>
        </p:txBody>
      </p:sp>
      <p:sp>
        <p:nvSpPr>
          <p:cNvPr id="14" name="TextBox 13"/>
          <p:cNvSpPr txBox="1"/>
          <p:nvPr/>
        </p:nvSpPr>
        <p:spPr>
          <a:xfrm>
            <a:off x="399626" y="5350933"/>
            <a:ext cx="5533813" cy="250613"/>
          </a:xfrm>
          <a:prstGeom prst="rect">
            <a:avLst/>
          </a:prstGeom>
          <a:noFill/>
        </p:spPr>
        <p:txBody>
          <a:bodyPr wrap="square">
            <a:normAutofit/>
          </a:bodyPr>
          <a:lstStyle/>
          <a:p>
            <a:pPr algn="ctr"/>
            <a:r>
              <a:rPr sz="2200" b="0">
                <a:solidFill>
                  <a:srgbClr val="010101"/>
                </a:solidFill>
              </a:rPr>
              <a:t>Let users become their own forward-deployed</a:t>
            </a:r>
          </a:p>
        </p:txBody>
      </p:sp>
      <p:sp>
        <p:nvSpPr>
          <p:cNvPr id="15" name="TextBox 14"/>
          <p:cNvSpPr txBox="1"/>
          <p:nvPr/>
        </p:nvSpPr>
        <p:spPr>
          <a:xfrm>
            <a:off x="392853" y="5764106"/>
            <a:ext cx="6570133" cy="250613"/>
          </a:xfrm>
          <a:prstGeom prst="rect">
            <a:avLst/>
          </a:prstGeom>
          <a:noFill/>
        </p:spPr>
        <p:txBody>
          <a:bodyPr wrap="square">
            <a:normAutofit/>
          </a:bodyPr>
          <a:lstStyle/>
          <a:p>
            <a:pPr algn="ctr"/>
            <a:r>
              <a:rPr sz="2200" b="0">
                <a:solidFill>
                  <a:srgbClr val="020202"/>
                </a:solidFill>
              </a:rPr>
              <a:t>engineers and customize software with coding agents.</a:t>
            </a:r>
          </a:p>
        </p:txBody>
      </p:sp>
      <p:sp>
        <p:nvSpPr>
          <p:cNvPr id="16" name="TextBox 15"/>
          <p:cNvSpPr txBox="1"/>
          <p:nvPr/>
        </p:nvSpPr>
        <p:spPr>
          <a:xfrm>
            <a:off x="386080" y="7308426"/>
            <a:ext cx="4538133" cy="264160"/>
          </a:xfrm>
          <a:prstGeom prst="rect">
            <a:avLst/>
          </a:prstGeom>
          <a:noFill/>
        </p:spPr>
        <p:txBody>
          <a:bodyPr wrap="square">
            <a:normAutofit/>
          </a:bodyPr>
          <a:lstStyle/>
          <a:p>
            <a:pPr algn="ctr"/>
            <a:r>
              <a:rPr sz="2400" b="0">
                <a:solidFill>
                  <a:srgbClr val="010101"/>
                </a:solidFill>
              </a:rPr>
              <a:t>The interface stops being fixed and</a:t>
            </a:r>
          </a:p>
        </p:txBody>
      </p:sp>
      <p:sp>
        <p:nvSpPr>
          <p:cNvPr id="17" name="TextBox 16"/>
          <p:cNvSpPr txBox="1"/>
          <p:nvPr/>
        </p:nvSpPr>
        <p:spPr>
          <a:xfrm>
            <a:off x="392853" y="7694506"/>
            <a:ext cx="5411893" cy="257386"/>
          </a:xfrm>
          <a:prstGeom prst="rect">
            <a:avLst/>
          </a:prstGeom>
          <a:noFill/>
        </p:spPr>
        <p:txBody>
          <a:bodyPr wrap="square">
            <a:normAutofit/>
          </a:bodyPr>
          <a:lstStyle/>
          <a:p>
            <a:pPr algn="ctr"/>
            <a:r>
              <a:rPr sz="2300" b="0">
                <a:solidFill>
                  <a:srgbClr val="020202"/>
                </a:solidFill>
              </a:rPr>
              <a:t>becomes something the user can ask into</a:t>
            </a:r>
          </a:p>
        </p:txBody>
      </p:sp>
      <p:sp>
        <p:nvSpPr>
          <p:cNvPr id="18" name="TextBox 17"/>
          <p:cNvSpPr txBox="1"/>
          <p:nvPr/>
        </p:nvSpPr>
        <p:spPr>
          <a:xfrm>
            <a:off x="386080" y="8073813"/>
            <a:ext cx="1293706" cy="216746"/>
          </a:xfrm>
          <a:prstGeom prst="rect">
            <a:avLst/>
          </a:prstGeom>
          <a:noFill/>
        </p:spPr>
        <p:txBody>
          <a:bodyPr wrap="square">
            <a:normAutofit/>
          </a:bodyPr>
          <a:lstStyle/>
          <a:p>
            <a:pPr algn="l"/>
            <a:r>
              <a:rPr sz="1900" b="0">
                <a:solidFill>
                  <a:srgbClr val="020202"/>
                </a:solidFill>
              </a:rPr>
              <a:t>existence.</a:t>
            </a:r>
          </a:p>
        </p:txBody>
      </p:sp>
      <p:sp>
        <p:nvSpPr>
          <p:cNvPr id="19" name="TextBox 18"/>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DYKyzOMCGal / slide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298026" y="772160"/>
            <a:ext cx="2831253" cy="1551093"/>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58986" y="3312160"/>
            <a:ext cx="4077546" cy="799253"/>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79306" y="4158826"/>
            <a:ext cx="3095413" cy="995679"/>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38666" y="5303520"/>
            <a:ext cx="4416213" cy="379306"/>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5120" y="5743786"/>
            <a:ext cx="4145280" cy="372533"/>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79306" y="6197600"/>
            <a:ext cx="1910080" cy="311573"/>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5440" y="7477759"/>
            <a:ext cx="3786293" cy="392853"/>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5120" y="7863840"/>
            <a:ext cx="4341706" cy="392853"/>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8986" y="8263466"/>
            <a:ext cx="2831253" cy="318346"/>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213" y="975360"/>
            <a:ext cx="2722880" cy="1144693"/>
          </a:xfrm>
          <a:prstGeom prst="rect">
            <a:avLst/>
          </a:prstGeom>
          <a:noFill/>
        </p:spPr>
        <p:txBody>
          <a:bodyPr wrap="square">
            <a:normAutofit/>
          </a:bodyPr>
          <a:lstStyle/>
          <a:p>
            <a:pPr algn="l"/>
            <a:r>
              <a:rPr sz="5800" b="1">
                <a:solidFill>
                  <a:srgbClr val="000000"/>
                </a:solidFill>
              </a:rPr>
              <a:t>07. 28</a:t>
            </a:r>
          </a:p>
        </p:txBody>
      </p:sp>
      <p:sp>
        <p:nvSpPr>
          <p:cNvPr id="13" name="TextBox 12"/>
          <p:cNvSpPr txBox="1"/>
          <p:nvPr/>
        </p:nvSpPr>
        <p:spPr>
          <a:xfrm>
            <a:off x="433493" y="3413760"/>
            <a:ext cx="3928533" cy="596053"/>
          </a:xfrm>
          <a:prstGeom prst="rect">
            <a:avLst/>
          </a:prstGeom>
          <a:noFill/>
        </p:spPr>
        <p:txBody>
          <a:bodyPr wrap="square">
            <a:normAutofit/>
          </a:bodyPr>
          <a:lstStyle/>
          <a:p>
            <a:pPr algn="ctr"/>
            <a:r>
              <a:rPr sz="5400" b="1">
                <a:solidFill>
                  <a:srgbClr val="020202"/>
                </a:solidFill>
              </a:rPr>
              <a:t>Electronics</a:t>
            </a:r>
          </a:p>
        </p:txBody>
      </p:sp>
      <p:sp>
        <p:nvSpPr>
          <p:cNvPr id="14" name="TextBox 13"/>
          <p:cNvSpPr txBox="1"/>
          <p:nvPr/>
        </p:nvSpPr>
        <p:spPr>
          <a:xfrm>
            <a:off x="433493" y="4287520"/>
            <a:ext cx="2987040" cy="738293"/>
          </a:xfrm>
          <a:prstGeom prst="rect">
            <a:avLst/>
          </a:prstGeom>
          <a:noFill/>
        </p:spPr>
        <p:txBody>
          <a:bodyPr wrap="square">
            <a:normAutofit/>
          </a:bodyPr>
          <a:lstStyle/>
          <a:p>
            <a:pPr algn="l"/>
            <a:r>
              <a:rPr sz="5800" b="1">
                <a:solidFill>
                  <a:srgbClr val="020202"/>
                </a:solidFill>
              </a:rPr>
              <a:t>in Space</a:t>
            </a:r>
          </a:p>
        </p:txBody>
      </p:sp>
      <p:sp>
        <p:nvSpPr>
          <p:cNvPr id="15" name="TextBox 14"/>
          <p:cNvSpPr txBox="1"/>
          <p:nvPr/>
        </p:nvSpPr>
        <p:spPr>
          <a:xfrm>
            <a:off x="419946" y="5350933"/>
            <a:ext cx="4253653" cy="284480"/>
          </a:xfrm>
          <a:prstGeom prst="rect">
            <a:avLst/>
          </a:prstGeom>
          <a:noFill/>
        </p:spPr>
        <p:txBody>
          <a:bodyPr wrap="square">
            <a:normAutofit/>
          </a:bodyPr>
          <a:lstStyle/>
          <a:p>
            <a:pPr algn="ctr"/>
            <a:r>
              <a:rPr sz="2600" b="0">
                <a:solidFill>
                  <a:srgbClr val="010101"/>
                </a:solidFill>
              </a:rPr>
              <a:t>Build inference chips optimized</a:t>
            </a:r>
          </a:p>
        </p:txBody>
      </p:sp>
      <p:sp>
        <p:nvSpPr>
          <p:cNvPr id="16" name="TextBox 15"/>
          <p:cNvSpPr txBox="1"/>
          <p:nvPr/>
        </p:nvSpPr>
        <p:spPr>
          <a:xfrm>
            <a:off x="399626" y="5791200"/>
            <a:ext cx="3996266" cy="277706"/>
          </a:xfrm>
          <a:prstGeom prst="rect">
            <a:avLst/>
          </a:prstGeom>
          <a:noFill/>
        </p:spPr>
        <p:txBody>
          <a:bodyPr wrap="square">
            <a:normAutofit/>
          </a:bodyPr>
          <a:lstStyle/>
          <a:p>
            <a:pPr algn="ctr"/>
            <a:r>
              <a:rPr sz="2500" b="0">
                <a:solidFill>
                  <a:srgbClr val="010101"/>
                </a:solidFill>
              </a:rPr>
              <a:t>for mass, thermal constraints,</a:t>
            </a:r>
          </a:p>
        </p:txBody>
      </p:sp>
      <p:sp>
        <p:nvSpPr>
          <p:cNvPr id="17" name="TextBox 16"/>
          <p:cNvSpPr txBox="1"/>
          <p:nvPr/>
        </p:nvSpPr>
        <p:spPr>
          <a:xfrm>
            <a:off x="413173" y="6238240"/>
            <a:ext cx="1842346" cy="230293"/>
          </a:xfrm>
          <a:prstGeom prst="rect">
            <a:avLst/>
          </a:prstGeom>
          <a:noFill/>
        </p:spPr>
        <p:txBody>
          <a:bodyPr wrap="square">
            <a:normAutofit/>
          </a:bodyPr>
          <a:lstStyle/>
          <a:p>
            <a:pPr algn="l"/>
            <a:r>
              <a:rPr sz="2100" b="0">
                <a:solidFill>
                  <a:srgbClr val="010101"/>
                </a:solidFill>
              </a:rPr>
              <a:t>and radiation.</a:t>
            </a:r>
          </a:p>
        </p:txBody>
      </p:sp>
      <p:sp>
        <p:nvSpPr>
          <p:cNvPr id="18" name="TextBox 17"/>
          <p:cNvSpPr txBox="1"/>
          <p:nvPr/>
        </p:nvSpPr>
        <p:spPr>
          <a:xfrm>
            <a:off x="413173" y="7525173"/>
            <a:ext cx="3650826" cy="298026"/>
          </a:xfrm>
          <a:prstGeom prst="rect">
            <a:avLst/>
          </a:prstGeom>
          <a:noFill/>
        </p:spPr>
        <p:txBody>
          <a:bodyPr wrap="square">
            <a:normAutofit/>
          </a:bodyPr>
          <a:lstStyle/>
          <a:p>
            <a:pPr algn="ctr"/>
            <a:r>
              <a:rPr sz="2700" b="0">
                <a:solidFill>
                  <a:srgbClr val="010101"/>
                </a:solidFill>
              </a:rPr>
              <a:t>Performance per watt and</a:t>
            </a:r>
          </a:p>
        </p:txBody>
      </p:sp>
      <p:sp>
        <p:nvSpPr>
          <p:cNvPr id="19" name="TextBox 18"/>
          <p:cNvSpPr txBox="1"/>
          <p:nvPr/>
        </p:nvSpPr>
        <p:spPr>
          <a:xfrm>
            <a:off x="406400" y="7911253"/>
            <a:ext cx="4179146" cy="298026"/>
          </a:xfrm>
          <a:prstGeom prst="rect">
            <a:avLst/>
          </a:prstGeom>
          <a:noFill/>
        </p:spPr>
        <p:txBody>
          <a:bodyPr wrap="square">
            <a:normAutofit/>
          </a:bodyPr>
          <a:lstStyle/>
          <a:p>
            <a:pPr algn="ctr"/>
            <a:r>
              <a:rPr sz="2700" b="0">
                <a:solidFill>
                  <a:srgbClr val="010101"/>
                </a:solidFill>
              </a:rPr>
              <a:t>survivability matter more than</a:t>
            </a:r>
          </a:p>
        </p:txBody>
      </p:sp>
      <p:sp>
        <p:nvSpPr>
          <p:cNvPr id="20" name="TextBox 19"/>
          <p:cNvSpPr txBox="1"/>
          <p:nvPr/>
        </p:nvSpPr>
        <p:spPr>
          <a:xfrm>
            <a:off x="413173" y="8304106"/>
            <a:ext cx="2722880" cy="237066"/>
          </a:xfrm>
          <a:prstGeom prst="rect">
            <a:avLst/>
          </a:prstGeom>
          <a:noFill/>
        </p:spPr>
        <p:txBody>
          <a:bodyPr wrap="square">
            <a:normAutofit/>
          </a:bodyPr>
          <a:lstStyle/>
          <a:p>
            <a:pPr algn="l"/>
            <a:r>
              <a:rPr sz="2100" b="0">
                <a:solidFill>
                  <a:srgbClr val="010101"/>
                </a:solidFill>
              </a:rPr>
              <a:t>benchmark theater.</a:t>
            </a:r>
          </a:p>
        </p:txBody>
      </p:sp>
      <p:sp>
        <p:nvSpPr>
          <p:cNvPr id="21" name="TextBox 20"/>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DYKyzOMCGal / slide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304800" y="1070186"/>
            <a:ext cx="2783840" cy="921173"/>
          </a:xfrm>
          <a:prstGeom prst="rect">
            <a:avLst/>
          </a:prstGeom>
          <a:solidFill>
            <a:srgbClr val="0D01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7706" y="3352800"/>
            <a:ext cx="6292426" cy="1009226"/>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52213" y="4233333"/>
            <a:ext cx="2079413" cy="819573"/>
          </a:xfrm>
          <a:prstGeom prst="rect">
            <a:avLst/>
          </a:prstGeom>
          <a:solidFill>
            <a:srgbClr val="0404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1573" y="5357706"/>
            <a:ext cx="5012266" cy="386080"/>
          </a:xfrm>
          <a:prstGeom prst="rect">
            <a:avLst/>
          </a:prstGeom>
          <a:solidFill>
            <a:srgbClr val="0404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1573" y="5825066"/>
            <a:ext cx="4632960" cy="386080"/>
          </a:xfrm>
          <a:prstGeom prst="rect">
            <a:avLst/>
          </a:prstGeom>
          <a:solidFill>
            <a:srgbClr val="0404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31893" y="6292426"/>
            <a:ext cx="3833706" cy="392853"/>
          </a:xfrm>
          <a:prstGeom prst="rect">
            <a:avLst/>
          </a:prstGeom>
          <a:solidFill>
            <a:srgbClr val="0404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11573" y="7647093"/>
            <a:ext cx="5249333" cy="392853"/>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4800" y="8060266"/>
            <a:ext cx="4653280" cy="318346"/>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213" y="1192106"/>
            <a:ext cx="2689013" cy="677333"/>
          </a:xfrm>
          <a:prstGeom prst="rect">
            <a:avLst/>
          </a:prstGeom>
          <a:noFill/>
        </p:spPr>
        <p:txBody>
          <a:bodyPr wrap="square">
            <a:normAutofit/>
          </a:bodyPr>
          <a:lstStyle/>
          <a:p>
            <a:pPr algn="l"/>
            <a:r>
              <a:rPr sz="5800" b="1">
                <a:solidFill>
                  <a:srgbClr val="000000"/>
                </a:solidFill>
              </a:rPr>
              <a:t>08. \&amp;</a:t>
            </a:r>
          </a:p>
        </p:txBody>
      </p:sp>
      <p:sp>
        <p:nvSpPr>
          <p:cNvPr id="12" name="TextBox 11"/>
          <p:cNvSpPr txBox="1"/>
          <p:nvPr/>
        </p:nvSpPr>
        <p:spPr>
          <a:xfrm>
            <a:off x="392853" y="3481493"/>
            <a:ext cx="6062133" cy="751840"/>
          </a:xfrm>
          <a:prstGeom prst="rect">
            <a:avLst/>
          </a:prstGeom>
          <a:noFill/>
        </p:spPr>
        <p:txBody>
          <a:bodyPr wrap="square">
            <a:normAutofit/>
          </a:bodyPr>
          <a:lstStyle/>
          <a:p>
            <a:pPr algn="ctr"/>
            <a:r>
              <a:rPr sz="5800" b="1">
                <a:solidFill>
                  <a:srgbClr val="020202"/>
                </a:solidFill>
              </a:rPr>
              <a:t>Hardware Supply</a:t>
            </a:r>
          </a:p>
        </p:txBody>
      </p:sp>
      <p:sp>
        <p:nvSpPr>
          <p:cNvPr id="13" name="TextBox 12"/>
          <p:cNvSpPr txBox="1"/>
          <p:nvPr/>
        </p:nvSpPr>
        <p:spPr>
          <a:xfrm>
            <a:off x="386080" y="4341706"/>
            <a:ext cx="2011680" cy="602826"/>
          </a:xfrm>
          <a:prstGeom prst="rect">
            <a:avLst/>
          </a:prstGeom>
          <a:noFill/>
        </p:spPr>
        <p:txBody>
          <a:bodyPr wrap="square">
            <a:normAutofit/>
          </a:bodyPr>
          <a:lstStyle/>
          <a:p>
            <a:pPr algn="l"/>
            <a:r>
              <a:rPr sz="5500" b="1">
                <a:solidFill>
                  <a:srgbClr val="010101"/>
                </a:solidFill>
              </a:rPr>
              <a:t>Chain</a:t>
            </a:r>
          </a:p>
        </p:txBody>
      </p:sp>
      <p:sp>
        <p:nvSpPr>
          <p:cNvPr id="14" name="TextBox 13"/>
          <p:cNvSpPr txBox="1"/>
          <p:nvPr/>
        </p:nvSpPr>
        <p:spPr>
          <a:xfrm>
            <a:off x="406400" y="5405120"/>
            <a:ext cx="4822613" cy="291253"/>
          </a:xfrm>
          <a:prstGeom prst="rect">
            <a:avLst/>
          </a:prstGeom>
          <a:noFill/>
        </p:spPr>
        <p:txBody>
          <a:bodyPr wrap="square">
            <a:normAutofit/>
          </a:bodyPr>
          <a:lstStyle/>
          <a:p>
            <a:pPr algn="ctr"/>
            <a:r>
              <a:rPr sz="2600" b="0">
                <a:solidFill>
                  <a:srgbClr val="010101"/>
                </a:solidFill>
              </a:rPr>
              <a:t>Close the iteration speed gap through</a:t>
            </a:r>
          </a:p>
        </p:txBody>
      </p:sp>
      <p:sp>
        <p:nvSpPr>
          <p:cNvPr id="15" name="TextBox 14"/>
          <p:cNvSpPr txBox="1"/>
          <p:nvPr/>
        </p:nvSpPr>
        <p:spPr>
          <a:xfrm>
            <a:off x="399626" y="5872480"/>
            <a:ext cx="4456853" cy="291253"/>
          </a:xfrm>
          <a:prstGeom prst="rect">
            <a:avLst/>
          </a:prstGeom>
          <a:noFill/>
        </p:spPr>
        <p:txBody>
          <a:bodyPr wrap="square">
            <a:normAutofit/>
          </a:bodyPr>
          <a:lstStyle/>
          <a:p>
            <a:pPr algn="ctr"/>
            <a:r>
              <a:rPr sz="2600" b="0">
                <a:solidFill>
                  <a:srgbClr val="010101"/>
                </a:solidFill>
              </a:rPr>
              <a:t>faster parts production and tighter</a:t>
            </a:r>
          </a:p>
        </p:txBody>
      </p:sp>
      <p:sp>
        <p:nvSpPr>
          <p:cNvPr id="16" name="TextBox 15"/>
          <p:cNvSpPr txBox="1"/>
          <p:nvPr/>
        </p:nvSpPr>
        <p:spPr>
          <a:xfrm>
            <a:off x="399626" y="6339840"/>
            <a:ext cx="3698240" cy="298026"/>
          </a:xfrm>
          <a:prstGeom prst="rect">
            <a:avLst/>
          </a:prstGeom>
          <a:noFill/>
        </p:spPr>
        <p:txBody>
          <a:bodyPr wrap="square">
            <a:normAutofit/>
          </a:bodyPr>
          <a:lstStyle/>
          <a:p>
            <a:pPr algn="ctr"/>
            <a:r>
              <a:rPr sz="2700" b="0">
                <a:solidFill>
                  <a:srgbClr val="010101"/>
                </a:solidFill>
              </a:rPr>
              <a:t>design-to-production loops.</a:t>
            </a:r>
          </a:p>
        </p:txBody>
      </p:sp>
      <p:sp>
        <p:nvSpPr>
          <p:cNvPr id="17" name="TextBox 16"/>
          <p:cNvSpPr txBox="1"/>
          <p:nvPr/>
        </p:nvSpPr>
        <p:spPr>
          <a:xfrm>
            <a:off x="406400" y="7694506"/>
            <a:ext cx="5059680" cy="298026"/>
          </a:xfrm>
          <a:prstGeom prst="rect">
            <a:avLst/>
          </a:prstGeom>
          <a:noFill/>
        </p:spPr>
        <p:txBody>
          <a:bodyPr wrap="square">
            <a:normAutofit/>
          </a:bodyPr>
          <a:lstStyle/>
          <a:p>
            <a:pPr algn="ctr"/>
            <a:r>
              <a:rPr sz="2700" b="0">
                <a:solidFill>
                  <a:srgbClr val="010101"/>
                </a:solidFill>
              </a:rPr>
              <a:t>Hardware teams need iteration cycles</a:t>
            </a:r>
          </a:p>
        </p:txBody>
      </p:sp>
      <p:sp>
        <p:nvSpPr>
          <p:cNvPr id="18" name="TextBox 17"/>
          <p:cNvSpPr txBox="1"/>
          <p:nvPr/>
        </p:nvSpPr>
        <p:spPr>
          <a:xfrm>
            <a:off x="392853" y="8100906"/>
            <a:ext cx="4477173" cy="237066"/>
          </a:xfrm>
          <a:prstGeom prst="rect">
            <a:avLst/>
          </a:prstGeom>
          <a:noFill/>
        </p:spPr>
        <p:txBody>
          <a:bodyPr wrap="square">
            <a:normAutofit/>
          </a:bodyPr>
          <a:lstStyle/>
          <a:p>
            <a:pPr algn="ctr"/>
            <a:r>
              <a:rPr sz="2100" b="0">
                <a:solidFill>
                  <a:srgbClr val="010101"/>
                </a:solidFill>
              </a:rPr>
              <a:t>that feel much closer to software.</a:t>
            </a:r>
          </a:p>
        </p:txBody>
      </p:sp>
      <p:sp>
        <p:nvSpPr>
          <p:cNvPr id="19" name="TextBox 18"/>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DYKyzOMCGal / 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2526453" y="3373120"/>
            <a:ext cx="3779520" cy="169333"/>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84480" y="3298613"/>
            <a:ext cx="6807200" cy="894080"/>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4030133"/>
            <a:ext cx="2689013" cy="894080"/>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1573" y="5080000"/>
            <a:ext cx="5337386" cy="379306"/>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8346" y="5554133"/>
            <a:ext cx="4842933" cy="372533"/>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45440" y="6021493"/>
            <a:ext cx="3738879" cy="379306"/>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11573" y="7294880"/>
            <a:ext cx="4822613" cy="386080"/>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18346" y="7680960"/>
            <a:ext cx="4930986" cy="379306"/>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72533" y="8067040"/>
            <a:ext cx="2323253" cy="311573"/>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94186" y="3400213"/>
            <a:ext cx="3644053" cy="135466"/>
          </a:xfrm>
          <a:prstGeom prst="rect">
            <a:avLst/>
          </a:prstGeom>
          <a:noFill/>
        </p:spPr>
        <p:txBody>
          <a:bodyPr wrap="square">
            <a:normAutofit/>
          </a:bodyPr>
          <a:lstStyle/>
          <a:p>
            <a:pPr algn="ctr"/>
            <a:r>
              <a:rPr sz="1000" b="0">
                <a:solidFill>
                  <a:srgbClr val="040404"/>
                </a:solidFill>
              </a:rPr>
              <a:t>e @</a:t>
            </a:r>
          </a:p>
        </p:txBody>
      </p:sp>
      <p:sp>
        <p:nvSpPr>
          <p:cNvPr id="13" name="TextBox 12"/>
          <p:cNvSpPr txBox="1"/>
          <p:nvPr/>
        </p:nvSpPr>
        <p:spPr>
          <a:xfrm>
            <a:off x="413173" y="3413760"/>
            <a:ext cx="6549813" cy="663786"/>
          </a:xfrm>
          <a:prstGeom prst="rect">
            <a:avLst/>
          </a:prstGeom>
          <a:noFill/>
        </p:spPr>
        <p:txBody>
          <a:bodyPr wrap="square">
            <a:normAutofit/>
          </a:bodyPr>
          <a:lstStyle/>
          <a:p>
            <a:pPr algn="ctr"/>
            <a:r>
              <a:rPr sz="5800" b="1">
                <a:solidFill>
                  <a:srgbClr val="040404"/>
                </a:solidFill>
              </a:rPr>
              <a:t>Industrial Capabilities</a:t>
            </a:r>
          </a:p>
        </p:txBody>
      </p:sp>
      <p:sp>
        <p:nvSpPr>
          <p:cNvPr id="14" name="TextBox 13"/>
          <p:cNvSpPr txBox="1"/>
          <p:nvPr/>
        </p:nvSpPr>
        <p:spPr>
          <a:xfrm>
            <a:off x="413173" y="4145280"/>
            <a:ext cx="2594186" cy="663786"/>
          </a:xfrm>
          <a:prstGeom prst="rect">
            <a:avLst/>
          </a:prstGeom>
          <a:noFill/>
        </p:spPr>
        <p:txBody>
          <a:bodyPr wrap="square">
            <a:normAutofit/>
          </a:bodyPr>
          <a:lstStyle/>
          <a:p>
            <a:pPr algn="l"/>
            <a:r>
              <a:rPr sz="5800" b="1">
                <a:solidFill>
                  <a:srgbClr val="040404"/>
                </a:solidFill>
              </a:rPr>
              <a:t>in Space</a:t>
            </a:r>
          </a:p>
        </p:txBody>
      </p:sp>
      <p:sp>
        <p:nvSpPr>
          <p:cNvPr id="15" name="TextBox 14"/>
          <p:cNvSpPr txBox="1"/>
          <p:nvPr/>
        </p:nvSpPr>
        <p:spPr>
          <a:xfrm>
            <a:off x="413173" y="5127413"/>
            <a:ext cx="5134186" cy="284480"/>
          </a:xfrm>
          <a:prstGeom prst="rect">
            <a:avLst/>
          </a:prstGeom>
          <a:noFill/>
        </p:spPr>
        <p:txBody>
          <a:bodyPr wrap="square">
            <a:normAutofit/>
          </a:bodyPr>
          <a:lstStyle/>
          <a:p>
            <a:pPr algn="ctr"/>
            <a:r>
              <a:rPr sz="2600" b="0">
                <a:solidFill>
                  <a:srgbClr val="030303"/>
                </a:solidFill>
              </a:rPr>
              <a:t>Extract raw materials through electrolysis</a:t>
            </a:r>
          </a:p>
        </p:txBody>
      </p:sp>
      <p:sp>
        <p:nvSpPr>
          <p:cNvPr id="16" name="TextBox 15"/>
          <p:cNvSpPr txBox="1"/>
          <p:nvPr/>
        </p:nvSpPr>
        <p:spPr>
          <a:xfrm>
            <a:off x="406400" y="5601546"/>
            <a:ext cx="4666826" cy="277706"/>
          </a:xfrm>
          <a:prstGeom prst="rect">
            <a:avLst/>
          </a:prstGeom>
          <a:noFill/>
        </p:spPr>
        <p:txBody>
          <a:bodyPr wrap="square">
            <a:normAutofit/>
          </a:bodyPr>
          <a:lstStyle/>
          <a:p>
            <a:pPr algn="ctr"/>
            <a:r>
              <a:rPr sz="2500" b="0">
                <a:solidFill>
                  <a:srgbClr val="030303"/>
                </a:solidFill>
              </a:rPr>
              <a:t>and 3D print complex structures from</a:t>
            </a:r>
          </a:p>
        </p:txBody>
      </p:sp>
      <p:sp>
        <p:nvSpPr>
          <p:cNvPr id="17" name="TextBox 16"/>
          <p:cNvSpPr txBox="1"/>
          <p:nvPr/>
        </p:nvSpPr>
        <p:spPr>
          <a:xfrm>
            <a:off x="413173" y="6068906"/>
            <a:ext cx="3603413" cy="284480"/>
          </a:xfrm>
          <a:prstGeom prst="rect">
            <a:avLst/>
          </a:prstGeom>
          <a:noFill/>
        </p:spPr>
        <p:txBody>
          <a:bodyPr wrap="square">
            <a:normAutofit/>
          </a:bodyPr>
          <a:lstStyle/>
          <a:p>
            <a:pPr algn="ctr"/>
            <a:r>
              <a:rPr sz="2600" b="0">
                <a:solidFill>
                  <a:srgbClr val="030303"/>
                </a:solidFill>
              </a:rPr>
              <a:t>molten regolith on the moon.</a:t>
            </a:r>
          </a:p>
        </p:txBody>
      </p:sp>
      <p:sp>
        <p:nvSpPr>
          <p:cNvPr id="18" name="TextBox 17"/>
          <p:cNvSpPr txBox="1"/>
          <p:nvPr/>
        </p:nvSpPr>
        <p:spPr>
          <a:xfrm>
            <a:off x="399626" y="7342293"/>
            <a:ext cx="4646506" cy="291253"/>
          </a:xfrm>
          <a:prstGeom prst="rect">
            <a:avLst/>
          </a:prstGeom>
          <a:noFill/>
        </p:spPr>
        <p:txBody>
          <a:bodyPr wrap="square">
            <a:normAutofit/>
          </a:bodyPr>
          <a:lstStyle/>
          <a:p>
            <a:pPr algn="ctr"/>
            <a:r>
              <a:rPr sz="2600" b="0">
                <a:solidFill>
                  <a:srgbClr val="030303"/>
                </a:solidFill>
              </a:rPr>
              <a:t>The first proof is one useful material</a:t>
            </a:r>
          </a:p>
        </p:txBody>
      </p:sp>
      <p:sp>
        <p:nvSpPr>
          <p:cNvPr id="19" name="TextBox 18"/>
          <p:cNvSpPr txBox="1"/>
          <p:nvPr/>
        </p:nvSpPr>
        <p:spPr>
          <a:xfrm>
            <a:off x="413173" y="7728373"/>
            <a:ext cx="4741333" cy="284480"/>
          </a:xfrm>
          <a:prstGeom prst="rect">
            <a:avLst/>
          </a:prstGeom>
          <a:noFill/>
        </p:spPr>
        <p:txBody>
          <a:bodyPr wrap="square">
            <a:normAutofit/>
          </a:bodyPr>
          <a:lstStyle/>
          <a:p>
            <a:pPr algn="ctr"/>
            <a:r>
              <a:rPr sz="2600" b="0">
                <a:solidFill>
                  <a:srgbClr val="030303"/>
                </a:solidFill>
              </a:rPr>
              <a:t>process that works repeatably under</a:t>
            </a:r>
          </a:p>
        </p:txBody>
      </p:sp>
      <p:sp>
        <p:nvSpPr>
          <p:cNvPr id="20" name="TextBox 19"/>
          <p:cNvSpPr txBox="1"/>
          <p:nvPr/>
        </p:nvSpPr>
        <p:spPr>
          <a:xfrm>
            <a:off x="413173" y="8107680"/>
            <a:ext cx="2241973" cy="230293"/>
          </a:xfrm>
          <a:prstGeom prst="rect">
            <a:avLst/>
          </a:prstGeom>
          <a:noFill/>
        </p:spPr>
        <p:txBody>
          <a:bodyPr wrap="square">
            <a:normAutofit/>
          </a:bodyPr>
          <a:lstStyle/>
          <a:p>
            <a:pPr algn="l"/>
            <a:r>
              <a:rPr sz="2100" b="0">
                <a:solidFill>
                  <a:srgbClr val="030303"/>
                </a:solidFill>
              </a:rPr>
              <a:t>lunar constraints.</a:t>
            </a:r>
          </a:p>
        </p:txBody>
      </p:sp>
      <p:sp>
        <p:nvSpPr>
          <p:cNvPr id="21" name="TextBox 20"/>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DYKyzOMCGal / slide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440266" y="1070186"/>
            <a:ext cx="1158240" cy="921173"/>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0613" y="3007360"/>
            <a:ext cx="5188373" cy="921173"/>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3772746"/>
            <a:ext cx="6692053" cy="921173"/>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0613" y="4849706"/>
            <a:ext cx="4314613" cy="392853"/>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7066" y="5303520"/>
            <a:ext cx="4091093" cy="392853"/>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0613" y="5777653"/>
            <a:ext cx="3691466" cy="392853"/>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0933" y="6251786"/>
            <a:ext cx="3041226" cy="386080"/>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3520" y="7586133"/>
            <a:ext cx="4558453" cy="413173"/>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0613" y="7978986"/>
            <a:ext cx="3854026" cy="392853"/>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0613" y="8365066"/>
            <a:ext cx="3169920" cy="392853"/>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586" y="1192106"/>
            <a:ext cx="1117600" cy="677333"/>
          </a:xfrm>
          <a:prstGeom prst="rect">
            <a:avLst/>
          </a:prstGeom>
          <a:noFill/>
        </p:spPr>
        <p:txBody>
          <a:bodyPr wrap="square">
            <a:normAutofit/>
          </a:bodyPr>
          <a:lstStyle/>
          <a:p>
            <a:pPr algn="l"/>
            <a:r>
              <a:rPr sz="5800" b="1">
                <a:solidFill>
                  <a:srgbClr val="000000"/>
                </a:solidFill>
              </a:rPr>
              <a:t>10.</a:t>
            </a:r>
          </a:p>
        </p:txBody>
      </p:sp>
      <p:sp>
        <p:nvSpPr>
          <p:cNvPr id="14" name="TextBox 13"/>
          <p:cNvSpPr txBox="1"/>
          <p:nvPr/>
        </p:nvSpPr>
        <p:spPr>
          <a:xfrm>
            <a:off x="345440" y="3129280"/>
            <a:ext cx="4998720" cy="677333"/>
          </a:xfrm>
          <a:prstGeom prst="rect">
            <a:avLst/>
          </a:prstGeom>
          <a:noFill/>
        </p:spPr>
        <p:txBody>
          <a:bodyPr wrap="square">
            <a:normAutofit/>
          </a:bodyPr>
          <a:lstStyle/>
          <a:p>
            <a:pPr algn="ctr"/>
            <a:r>
              <a:rPr sz="5800" b="1">
                <a:solidFill>
                  <a:srgbClr val="020202"/>
                </a:solidFill>
              </a:rPr>
              <a:t>Inference Chips</a:t>
            </a:r>
          </a:p>
        </p:txBody>
      </p:sp>
      <p:sp>
        <p:nvSpPr>
          <p:cNvPr id="15" name="TextBox 14"/>
          <p:cNvSpPr txBox="1"/>
          <p:nvPr/>
        </p:nvSpPr>
        <p:spPr>
          <a:xfrm>
            <a:off x="311573" y="3894666"/>
            <a:ext cx="6434666" cy="677333"/>
          </a:xfrm>
          <a:prstGeom prst="rect">
            <a:avLst/>
          </a:prstGeom>
          <a:noFill/>
        </p:spPr>
        <p:txBody>
          <a:bodyPr wrap="square">
            <a:normAutofit/>
          </a:bodyPr>
          <a:lstStyle/>
          <a:p>
            <a:pPr algn="ctr"/>
            <a:r>
              <a:rPr sz="5800" b="1">
                <a:solidFill>
                  <a:srgbClr val="030303"/>
                </a:solidFill>
              </a:rPr>
              <a:t>for Agent Workflows</a:t>
            </a:r>
          </a:p>
        </p:txBody>
      </p:sp>
      <p:sp>
        <p:nvSpPr>
          <p:cNvPr id="16" name="TextBox 15"/>
          <p:cNvSpPr txBox="1"/>
          <p:nvPr/>
        </p:nvSpPr>
        <p:spPr>
          <a:xfrm>
            <a:off x="331893" y="4897120"/>
            <a:ext cx="4152053" cy="298026"/>
          </a:xfrm>
          <a:prstGeom prst="rect">
            <a:avLst/>
          </a:prstGeom>
          <a:noFill/>
        </p:spPr>
        <p:txBody>
          <a:bodyPr wrap="square">
            <a:normAutofit/>
          </a:bodyPr>
          <a:lstStyle/>
          <a:p>
            <a:pPr algn="ctr"/>
            <a:r>
              <a:rPr sz="2700" b="0">
                <a:solidFill>
                  <a:srgbClr val="020202"/>
                </a:solidFill>
              </a:rPr>
              <a:t>Build silicon for the agent loop:</a:t>
            </a:r>
          </a:p>
        </p:txBody>
      </p:sp>
      <p:sp>
        <p:nvSpPr>
          <p:cNvPr id="17" name="TextBox 16"/>
          <p:cNvSpPr txBox="1"/>
          <p:nvPr/>
        </p:nvSpPr>
        <p:spPr>
          <a:xfrm>
            <a:off x="311573" y="5350933"/>
            <a:ext cx="3942080" cy="298026"/>
          </a:xfrm>
          <a:prstGeom prst="rect">
            <a:avLst/>
          </a:prstGeom>
          <a:noFill/>
        </p:spPr>
        <p:txBody>
          <a:bodyPr wrap="square">
            <a:normAutofit/>
          </a:bodyPr>
          <a:lstStyle/>
          <a:p>
            <a:pPr algn="ctr"/>
            <a:r>
              <a:rPr sz="2700" b="0">
                <a:solidFill>
                  <a:srgbClr val="020202"/>
                </a:solidFill>
              </a:rPr>
              <a:t>fast context switching, native</a:t>
            </a:r>
          </a:p>
        </p:txBody>
      </p:sp>
      <p:sp>
        <p:nvSpPr>
          <p:cNvPr id="18" name="TextBox 17"/>
          <p:cNvSpPr txBox="1"/>
          <p:nvPr/>
        </p:nvSpPr>
        <p:spPr>
          <a:xfrm>
            <a:off x="318346" y="5825066"/>
            <a:ext cx="3556000" cy="298026"/>
          </a:xfrm>
          <a:prstGeom prst="rect">
            <a:avLst/>
          </a:prstGeom>
          <a:noFill/>
        </p:spPr>
        <p:txBody>
          <a:bodyPr wrap="square">
            <a:normAutofit/>
          </a:bodyPr>
          <a:lstStyle/>
          <a:p>
            <a:pPr algn="ctr"/>
            <a:r>
              <a:rPr sz="2700" b="0">
                <a:solidFill>
                  <a:srgbClr val="020202"/>
                </a:solidFill>
              </a:rPr>
              <a:t>speculative decoding, and</a:t>
            </a:r>
          </a:p>
        </p:txBody>
      </p:sp>
      <p:sp>
        <p:nvSpPr>
          <p:cNvPr id="19" name="TextBox 18"/>
          <p:cNvSpPr txBox="1"/>
          <p:nvPr/>
        </p:nvSpPr>
        <p:spPr>
          <a:xfrm>
            <a:off x="325120" y="6299200"/>
            <a:ext cx="2932853" cy="291253"/>
          </a:xfrm>
          <a:prstGeom prst="rect">
            <a:avLst/>
          </a:prstGeom>
          <a:noFill/>
        </p:spPr>
        <p:txBody>
          <a:bodyPr wrap="square">
            <a:normAutofit/>
          </a:bodyPr>
          <a:lstStyle/>
          <a:p>
            <a:pPr algn="l"/>
            <a:r>
              <a:rPr sz="2600" b="0">
                <a:solidFill>
                  <a:srgbClr val="020202"/>
                </a:solidFill>
              </a:rPr>
              <a:t>persistent KV caches.</a:t>
            </a:r>
          </a:p>
        </p:txBody>
      </p:sp>
      <p:sp>
        <p:nvSpPr>
          <p:cNvPr id="20" name="TextBox 19"/>
          <p:cNvSpPr txBox="1"/>
          <p:nvPr/>
        </p:nvSpPr>
        <p:spPr>
          <a:xfrm>
            <a:off x="304800" y="7640320"/>
            <a:ext cx="4395893" cy="304800"/>
          </a:xfrm>
          <a:prstGeom prst="rect">
            <a:avLst/>
          </a:prstGeom>
          <a:noFill/>
        </p:spPr>
        <p:txBody>
          <a:bodyPr wrap="square">
            <a:normAutofit/>
          </a:bodyPr>
          <a:lstStyle/>
          <a:p>
            <a:pPr algn="ctr"/>
            <a:r>
              <a:rPr sz="2700" b="0">
                <a:solidFill>
                  <a:srgbClr val="020202"/>
                </a:solidFill>
              </a:rPr>
              <a:t>Agent workloads are branching,</a:t>
            </a:r>
          </a:p>
        </p:txBody>
      </p:sp>
      <p:sp>
        <p:nvSpPr>
          <p:cNvPr id="21" name="TextBox 20"/>
          <p:cNvSpPr txBox="1"/>
          <p:nvPr/>
        </p:nvSpPr>
        <p:spPr>
          <a:xfrm>
            <a:off x="318346" y="8026400"/>
            <a:ext cx="3718560" cy="298026"/>
          </a:xfrm>
          <a:prstGeom prst="rect">
            <a:avLst/>
          </a:prstGeom>
          <a:noFill/>
        </p:spPr>
        <p:txBody>
          <a:bodyPr wrap="square">
            <a:normAutofit/>
          </a:bodyPr>
          <a:lstStyle/>
          <a:p>
            <a:pPr algn="ctr"/>
            <a:r>
              <a:rPr sz="2700" b="0">
                <a:solidFill>
                  <a:srgbClr val="020202"/>
                </a:solidFill>
              </a:rPr>
              <a:t>memory-heavy, tool-using,</a:t>
            </a:r>
          </a:p>
        </p:txBody>
      </p:sp>
      <p:sp>
        <p:nvSpPr>
          <p:cNvPr id="22" name="TextBox 21"/>
          <p:cNvSpPr txBox="1"/>
          <p:nvPr/>
        </p:nvSpPr>
        <p:spPr>
          <a:xfrm>
            <a:off x="311573" y="8412480"/>
            <a:ext cx="3048000" cy="298026"/>
          </a:xfrm>
          <a:prstGeom prst="rect">
            <a:avLst/>
          </a:prstGeom>
          <a:noFill/>
        </p:spPr>
        <p:txBody>
          <a:bodyPr wrap="square">
            <a:normAutofit/>
          </a:bodyPr>
          <a:lstStyle/>
          <a:p>
            <a:pPr algn="l"/>
            <a:r>
              <a:rPr sz="2700" b="0">
                <a:solidFill>
                  <a:srgbClr val="020202"/>
                </a:solidFill>
              </a:rPr>
              <a:t>and latency-sensitive.</a:t>
            </a:r>
          </a:p>
        </p:txBody>
      </p:sp>
      <p:sp>
        <p:nvSpPr>
          <p:cNvPr id="23" name="TextBox 22"/>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DYKyzOMCGal / slide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535093" y="1056640"/>
            <a:ext cx="2526453" cy="1076960"/>
          </a:xfrm>
          <a:prstGeom prst="rect">
            <a:avLst/>
          </a:prstGeom>
          <a:solidFill>
            <a:srgbClr val="0B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3520" y="4924213"/>
            <a:ext cx="7057813" cy="392853"/>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50613" y="5405120"/>
            <a:ext cx="6123093" cy="38608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7386" y="5886026"/>
            <a:ext cx="5737013" cy="386080"/>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4160" y="7294880"/>
            <a:ext cx="4680373" cy="413173"/>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04800" y="7708053"/>
            <a:ext cx="3610186" cy="413173"/>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1253" y="8107680"/>
            <a:ext cx="3718560" cy="419946"/>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2506" y="1198880"/>
            <a:ext cx="2431626" cy="792480"/>
          </a:xfrm>
          <a:prstGeom prst="rect">
            <a:avLst/>
          </a:prstGeom>
          <a:noFill/>
        </p:spPr>
        <p:txBody>
          <a:bodyPr wrap="square">
            <a:normAutofit/>
          </a:bodyPr>
          <a:lstStyle/>
          <a:p>
            <a:pPr algn="l"/>
            <a:r>
              <a:rPr sz="5800" b="1">
                <a:solidFill>
                  <a:srgbClr val="000000"/>
                </a:solidFill>
              </a:rPr>
              <a:t>1. =</a:t>
            </a:r>
          </a:p>
        </p:txBody>
      </p:sp>
      <p:sp>
        <p:nvSpPr>
          <p:cNvPr id="11" name="TextBox 10"/>
          <p:cNvSpPr txBox="1"/>
          <p:nvPr/>
        </p:nvSpPr>
        <p:spPr>
          <a:xfrm>
            <a:off x="358986" y="4971626"/>
            <a:ext cx="6786880" cy="298026"/>
          </a:xfrm>
          <a:prstGeom prst="rect">
            <a:avLst/>
          </a:prstGeom>
          <a:noFill/>
        </p:spPr>
        <p:txBody>
          <a:bodyPr wrap="square">
            <a:normAutofit/>
          </a:bodyPr>
          <a:lstStyle/>
          <a:p>
            <a:pPr algn="ctr"/>
            <a:r>
              <a:rPr sz="2700" b="0">
                <a:solidFill>
                  <a:srgbClr val="050505"/>
                </a:solidFill>
              </a:rPr>
              <a:t>Al collapsed the cost of building software 10-100x.</a:t>
            </a:r>
          </a:p>
        </p:txBody>
      </p:sp>
      <p:sp>
        <p:nvSpPr>
          <p:cNvPr id="12" name="TextBox 11"/>
          <p:cNvSpPr txBox="1"/>
          <p:nvPr/>
        </p:nvSpPr>
        <p:spPr>
          <a:xfrm>
            <a:off x="365760" y="5452533"/>
            <a:ext cx="5892800" cy="291253"/>
          </a:xfrm>
          <a:prstGeom prst="rect">
            <a:avLst/>
          </a:prstGeom>
          <a:noFill/>
        </p:spPr>
        <p:txBody>
          <a:bodyPr wrap="square">
            <a:normAutofit/>
          </a:bodyPr>
          <a:lstStyle/>
          <a:p>
            <a:pPr algn="ctr"/>
            <a:r>
              <a:rPr sz="2600" b="0">
                <a:solidFill>
                  <a:srgbClr val="050505"/>
                </a:solidFill>
              </a:rPr>
              <a:t>Go after legacy giants like ERPs, chip design</a:t>
            </a:r>
          </a:p>
        </p:txBody>
      </p:sp>
      <p:sp>
        <p:nvSpPr>
          <p:cNvPr id="13" name="TextBox 12"/>
          <p:cNvSpPr txBox="1"/>
          <p:nvPr/>
        </p:nvSpPr>
        <p:spPr>
          <a:xfrm>
            <a:off x="365760" y="5933440"/>
            <a:ext cx="5520266" cy="291253"/>
          </a:xfrm>
          <a:prstGeom prst="rect">
            <a:avLst/>
          </a:prstGeom>
          <a:noFill/>
        </p:spPr>
        <p:txBody>
          <a:bodyPr wrap="square">
            <a:normAutofit/>
          </a:bodyPr>
          <a:lstStyle/>
          <a:p>
            <a:pPr algn="ctr"/>
            <a:r>
              <a:rPr sz="2600" b="0">
                <a:solidFill>
                  <a:srgbClr val="050505"/>
                </a:solidFill>
              </a:rPr>
              <a:t>software, and supply chain management.</a:t>
            </a:r>
          </a:p>
        </p:txBody>
      </p:sp>
      <p:sp>
        <p:nvSpPr>
          <p:cNvPr id="14" name="TextBox 13"/>
          <p:cNvSpPr txBox="1"/>
          <p:nvPr/>
        </p:nvSpPr>
        <p:spPr>
          <a:xfrm>
            <a:off x="352213" y="7349066"/>
            <a:ext cx="4504266" cy="304800"/>
          </a:xfrm>
          <a:prstGeom prst="rect">
            <a:avLst/>
          </a:prstGeom>
          <a:noFill/>
        </p:spPr>
        <p:txBody>
          <a:bodyPr wrap="square">
            <a:normAutofit/>
          </a:bodyPr>
          <a:lstStyle/>
          <a:p>
            <a:pPr algn="ctr"/>
            <a:r>
              <a:rPr sz="2700" b="0">
                <a:solidFill>
                  <a:srgbClr val="050505"/>
                </a:solidFill>
              </a:rPr>
              <a:t>The wedge is not cheaper SaaS.</a:t>
            </a:r>
          </a:p>
        </p:txBody>
      </p:sp>
      <p:sp>
        <p:nvSpPr>
          <p:cNvPr id="15" name="TextBox 14"/>
          <p:cNvSpPr txBox="1"/>
          <p:nvPr/>
        </p:nvSpPr>
        <p:spPr>
          <a:xfrm>
            <a:off x="372533" y="7762240"/>
            <a:ext cx="3474720" cy="304800"/>
          </a:xfrm>
          <a:prstGeom prst="rect">
            <a:avLst/>
          </a:prstGeom>
          <a:noFill/>
        </p:spPr>
        <p:txBody>
          <a:bodyPr wrap="square">
            <a:normAutofit/>
          </a:bodyPr>
          <a:lstStyle/>
          <a:p>
            <a:pPr algn="ctr"/>
            <a:r>
              <a:rPr sz="2700" b="0">
                <a:solidFill>
                  <a:srgbClr val="050505"/>
                </a:solidFill>
              </a:rPr>
              <a:t>It is faster product depth</a:t>
            </a:r>
          </a:p>
        </p:txBody>
      </p:sp>
      <p:sp>
        <p:nvSpPr>
          <p:cNvPr id="16" name="TextBox 15"/>
          <p:cNvSpPr txBox="1"/>
          <p:nvPr/>
        </p:nvSpPr>
        <p:spPr>
          <a:xfrm>
            <a:off x="358986" y="8161866"/>
            <a:ext cx="3583093" cy="311573"/>
          </a:xfrm>
          <a:prstGeom prst="rect">
            <a:avLst/>
          </a:prstGeom>
          <a:noFill/>
        </p:spPr>
        <p:txBody>
          <a:bodyPr wrap="square">
            <a:normAutofit/>
          </a:bodyPr>
          <a:lstStyle/>
          <a:p>
            <a:pPr algn="ctr"/>
            <a:r>
              <a:rPr sz="2800" b="1">
                <a:solidFill>
                  <a:srgbClr val="050505"/>
                </a:solidFill>
              </a:rPr>
              <a:t>against slow incumbents.</a:t>
            </a:r>
          </a:p>
        </p:txBody>
      </p:sp>
      <p:sp>
        <p:nvSpPr>
          <p:cNvPr id="17" name="TextBox 16"/>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DYKyzOMCGal / slide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426720" y="1076960"/>
            <a:ext cx="907626" cy="900853"/>
          </a:xfrm>
          <a:prstGeom prst="rect">
            <a:avLst/>
          </a:prstGeom>
          <a:solidFill>
            <a:srgbClr val="05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052320" y="1165013"/>
            <a:ext cx="419946" cy="264160"/>
          </a:xfrm>
          <a:prstGeom prst="rect">
            <a:avLst/>
          </a:prstGeom>
          <a:solidFill>
            <a:srgbClr val="9B07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76106" y="4741333"/>
            <a:ext cx="6902026" cy="386080"/>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76106" y="5174826"/>
            <a:ext cx="6204373" cy="372533"/>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9653" y="6692053"/>
            <a:ext cx="5669280" cy="413173"/>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9653" y="7064586"/>
            <a:ext cx="5967306" cy="419946"/>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7706" y="7531946"/>
            <a:ext cx="1334346" cy="318346"/>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7040" y="1192106"/>
            <a:ext cx="866986" cy="670560"/>
          </a:xfrm>
          <a:prstGeom prst="rect">
            <a:avLst/>
          </a:prstGeom>
          <a:noFill/>
        </p:spPr>
        <p:txBody>
          <a:bodyPr wrap="square">
            <a:normAutofit/>
          </a:bodyPr>
          <a:lstStyle/>
          <a:p>
            <a:pPr algn="l"/>
            <a:r>
              <a:rPr sz="5800" b="1">
                <a:solidFill>
                  <a:srgbClr val="000000"/>
                </a:solidFill>
              </a:rPr>
              <a:t>12</a:t>
            </a:r>
          </a:p>
        </p:txBody>
      </p:sp>
      <p:sp>
        <p:nvSpPr>
          <p:cNvPr id="11" name="TextBox 10"/>
          <p:cNvSpPr txBox="1"/>
          <p:nvPr/>
        </p:nvSpPr>
        <p:spPr>
          <a:xfrm>
            <a:off x="2072640" y="1198880"/>
            <a:ext cx="379306" cy="196426"/>
          </a:xfrm>
          <a:prstGeom prst="rect">
            <a:avLst/>
          </a:prstGeom>
          <a:noFill/>
        </p:spPr>
        <p:txBody>
          <a:bodyPr wrap="square">
            <a:normAutofit/>
          </a:bodyPr>
          <a:lstStyle/>
          <a:p>
            <a:pPr algn="l"/>
            <a:r>
              <a:rPr sz="1700" b="0">
                <a:solidFill>
                  <a:srgbClr val="060302"/>
                </a:solidFill>
              </a:rPr>
              <a:t>bad</a:t>
            </a:r>
          </a:p>
        </p:txBody>
      </p:sp>
      <p:sp>
        <p:nvSpPr>
          <p:cNvPr id="12" name="TextBox 11"/>
          <p:cNvSpPr txBox="1"/>
          <p:nvPr/>
        </p:nvSpPr>
        <p:spPr>
          <a:xfrm>
            <a:off x="304800" y="4788746"/>
            <a:ext cx="6644640" cy="291253"/>
          </a:xfrm>
          <a:prstGeom prst="rect">
            <a:avLst/>
          </a:prstGeom>
          <a:noFill/>
        </p:spPr>
        <p:txBody>
          <a:bodyPr wrap="square">
            <a:normAutofit/>
          </a:bodyPr>
          <a:lstStyle/>
          <a:p>
            <a:pPr algn="ctr"/>
            <a:r>
              <a:rPr sz="2600" b="0">
                <a:solidFill>
                  <a:srgbClr val="020202"/>
                </a:solidFill>
              </a:rPr>
              <a:t>Rebuild every category of software for Al agents as</a:t>
            </a:r>
          </a:p>
        </p:txBody>
      </p:sp>
      <p:sp>
        <p:nvSpPr>
          <p:cNvPr id="13" name="TextBox 12"/>
          <p:cNvSpPr txBox="1"/>
          <p:nvPr/>
        </p:nvSpPr>
        <p:spPr>
          <a:xfrm>
            <a:off x="291253" y="5222240"/>
            <a:ext cx="5974080" cy="277706"/>
          </a:xfrm>
          <a:prstGeom prst="rect">
            <a:avLst/>
          </a:prstGeom>
          <a:noFill/>
        </p:spPr>
        <p:txBody>
          <a:bodyPr wrap="square">
            <a:normAutofit/>
          </a:bodyPr>
          <a:lstStyle/>
          <a:p>
            <a:pPr algn="ctr"/>
            <a:r>
              <a:rPr sz="2500" b="0">
                <a:solidFill>
                  <a:srgbClr val="020202"/>
                </a:solidFill>
              </a:rPr>
              <a:t>first-class citizens with APIs, MCPs, and CLIs.</a:t>
            </a:r>
          </a:p>
        </p:txBody>
      </p:sp>
      <p:sp>
        <p:nvSpPr>
          <p:cNvPr id="14" name="TextBox 13"/>
          <p:cNvSpPr txBox="1"/>
          <p:nvPr/>
        </p:nvSpPr>
        <p:spPr>
          <a:xfrm>
            <a:off x="298026" y="6746240"/>
            <a:ext cx="5452533" cy="304800"/>
          </a:xfrm>
          <a:prstGeom prst="rect">
            <a:avLst/>
          </a:prstGeom>
          <a:noFill/>
        </p:spPr>
        <p:txBody>
          <a:bodyPr wrap="square">
            <a:normAutofit/>
          </a:bodyPr>
          <a:lstStyle/>
          <a:p>
            <a:pPr algn="ctr"/>
            <a:r>
              <a:rPr sz="2700" b="0">
                <a:solidFill>
                  <a:srgbClr val="030303"/>
                </a:solidFill>
              </a:rPr>
              <a:t>If an agent is the user, software needs</a:t>
            </a:r>
          </a:p>
        </p:txBody>
      </p:sp>
      <p:sp>
        <p:nvSpPr>
          <p:cNvPr id="15" name="TextBox 14"/>
          <p:cNvSpPr txBox="1"/>
          <p:nvPr/>
        </p:nvSpPr>
        <p:spPr>
          <a:xfrm>
            <a:off x="298026" y="7118773"/>
            <a:ext cx="5750560" cy="311573"/>
          </a:xfrm>
          <a:prstGeom prst="rect">
            <a:avLst/>
          </a:prstGeom>
          <a:noFill/>
        </p:spPr>
        <p:txBody>
          <a:bodyPr wrap="square">
            <a:normAutofit/>
          </a:bodyPr>
          <a:lstStyle/>
          <a:p>
            <a:pPr algn="ctr"/>
            <a:r>
              <a:rPr sz="2800" b="1">
                <a:solidFill>
                  <a:srgbClr val="020202"/>
                </a:solidFill>
              </a:rPr>
              <a:t>machine-native paths, permissions, and</a:t>
            </a:r>
          </a:p>
        </p:txBody>
      </p:sp>
      <p:sp>
        <p:nvSpPr>
          <p:cNvPr id="16" name="TextBox 15"/>
          <p:cNvSpPr txBox="1"/>
          <p:nvPr/>
        </p:nvSpPr>
        <p:spPr>
          <a:xfrm>
            <a:off x="298026" y="7572586"/>
            <a:ext cx="1293706" cy="237066"/>
          </a:xfrm>
          <a:prstGeom prst="rect">
            <a:avLst/>
          </a:prstGeom>
          <a:noFill/>
        </p:spPr>
        <p:txBody>
          <a:bodyPr wrap="square">
            <a:normAutofit/>
          </a:bodyPr>
          <a:lstStyle/>
          <a:p>
            <a:pPr algn="l"/>
            <a:r>
              <a:rPr sz="2100" b="0">
                <a:solidFill>
                  <a:srgbClr val="020202"/>
                </a:solidFill>
              </a:rPr>
              <a:t>recovery.</a:t>
            </a:r>
          </a:p>
        </p:txBody>
      </p:sp>
      <p:sp>
        <p:nvSpPr>
          <p:cNvPr id="17" name="TextBox 16"/>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DYKyzOMCGal / slide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467359" y="1070186"/>
            <a:ext cx="1104053" cy="921173"/>
          </a:xfrm>
          <a:prstGeom prst="rect">
            <a:avLst/>
          </a:prstGeom>
          <a:solidFill>
            <a:srgbClr val="0202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89653" y="3928533"/>
            <a:ext cx="6983306" cy="778933"/>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57386" y="4558453"/>
            <a:ext cx="3271520" cy="778933"/>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3200" y="5506720"/>
            <a:ext cx="6604000" cy="338666"/>
          </a:xfrm>
          <a:prstGeom prst="rect">
            <a:avLst/>
          </a:prstGeom>
          <a:solidFill>
            <a:srgbClr val="0404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4160" y="5913120"/>
            <a:ext cx="3826933" cy="358986"/>
          </a:xfrm>
          <a:prstGeom prst="rect">
            <a:avLst/>
          </a:prstGeom>
          <a:solidFill>
            <a:srgbClr val="05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9973" y="7328746"/>
            <a:ext cx="5784426" cy="386080"/>
          </a:xfrm>
          <a:prstGeom prst="rect">
            <a:avLst/>
          </a:prstGeom>
          <a:solidFill>
            <a:srgbClr val="0404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4160" y="7755466"/>
            <a:ext cx="3095413" cy="372533"/>
          </a:xfrm>
          <a:prstGeom prst="rect">
            <a:avLst/>
          </a:prstGeom>
          <a:solidFill>
            <a:srgbClr val="0303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7680" y="1192106"/>
            <a:ext cx="1063413" cy="677333"/>
          </a:xfrm>
          <a:prstGeom prst="rect">
            <a:avLst/>
          </a:prstGeom>
          <a:noFill/>
        </p:spPr>
        <p:txBody>
          <a:bodyPr wrap="square">
            <a:normAutofit/>
          </a:bodyPr>
          <a:lstStyle/>
          <a:p>
            <a:pPr algn="l"/>
            <a:r>
              <a:rPr sz="5800" b="1">
                <a:solidFill>
                  <a:srgbClr val="000000"/>
                </a:solidFill>
              </a:rPr>
              <a:t>13.</a:t>
            </a:r>
          </a:p>
        </p:txBody>
      </p:sp>
      <p:sp>
        <p:nvSpPr>
          <p:cNvPr id="11" name="TextBox 10"/>
          <p:cNvSpPr txBox="1"/>
          <p:nvPr/>
        </p:nvSpPr>
        <p:spPr>
          <a:xfrm>
            <a:off x="318346" y="4030133"/>
            <a:ext cx="6725920" cy="575733"/>
          </a:xfrm>
          <a:prstGeom prst="rect">
            <a:avLst/>
          </a:prstGeom>
          <a:noFill/>
        </p:spPr>
        <p:txBody>
          <a:bodyPr wrap="square">
            <a:normAutofit/>
          </a:bodyPr>
          <a:lstStyle/>
          <a:p>
            <a:pPr algn="ctr"/>
            <a:r>
              <a:rPr sz="5200" b="1">
                <a:solidFill>
                  <a:srgbClr val="010101"/>
                </a:solidFill>
              </a:rPr>
              <a:t>Startups Selling to Huge</a:t>
            </a:r>
          </a:p>
        </p:txBody>
      </p:sp>
      <p:sp>
        <p:nvSpPr>
          <p:cNvPr id="12" name="TextBox 11"/>
          <p:cNvSpPr txBox="1"/>
          <p:nvPr/>
        </p:nvSpPr>
        <p:spPr>
          <a:xfrm>
            <a:off x="318346" y="4660053"/>
            <a:ext cx="3149600" cy="575733"/>
          </a:xfrm>
          <a:prstGeom prst="rect">
            <a:avLst/>
          </a:prstGeom>
          <a:noFill/>
        </p:spPr>
        <p:txBody>
          <a:bodyPr wrap="square">
            <a:normAutofit/>
          </a:bodyPr>
          <a:lstStyle/>
          <a:p>
            <a:pPr algn="l"/>
            <a:r>
              <a:rPr sz="5200" b="1">
                <a:solidFill>
                  <a:srgbClr val="010101"/>
                </a:solidFill>
              </a:rPr>
              <a:t>Companies</a:t>
            </a:r>
          </a:p>
        </p:txBody>
      </p:sp>
      <p:sp>
        <p:nvSpPr>
          <p:cNvPr id="13" name="TextBox 12"/>
          <p:cNvSpPr txBox="1"/>
          <p:nvPr/>
        </p:nvSpPr>
        <p:spPr>
          <a:xfrm>
            <a:off x="325120" y="5547360"/>
            <a:ext cx="6360160" cy="257386"/>
          </a:xfrm>
          <a:prstGeom prst="rect">
            <a:avLst/>
          </a:prstGeom>
          <a:noFill/>
        </p:spPr>
        <p:txBody>
          <a:bodyPr wrap="square">
            <a:normAutofit/>
          </a:bodyPr>
          <a:lstStyle/>
          <a:p>
            <a:pPr algn="ctr"/>
            <a:r>
              <a:rPr sz="2300" b="0">
                <a:solidFill>
                  <a:srgbClr val="010101"/>
                </a:solidFill>
              </a:rPr>
              <a:t>Small teams can now ship deep, nuanced products in</a:t>
            </a:r>
          </a:p>
        </p:txBody>
      </p:sp>
      <p:sp>
        <p:nvSpPr>
          <p:cNvPr id="14" name="TextBox 13"/>
          <p:cNvSpPr txBox="1"/>
          <p:nvPr/>
        </p:nvSpPr>
        <p:spPr>
          <a:xfrm>
            <a:off x="331893" y="5960533"/>
            <a:ext cx="3691466" cy="264160"/>
          </a:xfrm>
          <a:prstGeom prst="rect">
            <a:avLst/>
          </a:prstGeom>
          <a:noFill/>
        </p:spPr>
        <p:txBody>
          <a:bodyPr wrap="square">
            <a:normAutofit/>
          </a:bodyPr>
          <a:lstStyle/>
          <a:p>
            <a:pPr algn="ctr"/>
            <a:r>
              <a:rPr sz="2400" b="0">
                <a:solidFill>
                  <a:srgbClr val="010101"/>
                </a:solidFill>
              </a:rPr>
              <a:t>months to Fortune 100 buyers.</a:t>
            </a:r>
          </a:p>
        </p:txBody>
      </p:sp>
      <p:sp>
        <p:nvSpPr>
          <p:cNvPr id="15" name="TextBox 14"/>
          <p:cNvSpPr txBox="1"/>
          <p:nvPr/>
        </p:nvSpPr>
        <p:spPr>
          <a:xfrm>
            <a:off x="318346" y="7376160"/>
            <a:ext cx="5567680" cy="291253"/>
          </a:xfrm>
          <a:prstGeom prst="rect">
            <a:avLst/>
          </a:prstGeom>
          <a:noFill/>
        </p:spPr>
        <p:txBody>
          <a:bodyPr wrap="square">
            <a:normAutofit/>
          </a:bodyPr>
          <a:lstStyle/>
          <a:p>
            <a:pPr algn="ctr"/>
            <a:r>
              <a:rPr sz="2600" b="0">
                <a:solidFill>
                  <a:srgbClr val="010101"/>
                </a:solidFill>
              </a:rPr>
              <a:t>The new enterprise edge is expertise plus</a:t>
            </a:r>
          </a:p>
        </p:txBody>
      </p:sp>
      <p:sp>
        <p:nvSpPr>
          <p:cNvPr id="16" name="TextBox 15"/>
          <p:cNvSpPr txBox="1"/>
          <p:nvPr/>
        </p:nvSpPr>
        <p:spPr>
          <a:xfrm>
            <a:off x="318346" y="7802880"/>
            <a:ext cx="2987040" cy="277706"/>
          </a:xfrm>
          <a:prstGeom prst="rect">
            <a:avLst/>
          </a:prstGeom>
          <a:noFill/>
        </p:spPr>
        <p:txBody>
          <a:bodyPr wrap="square">
            <a:normAutofit/>
          </a:bodyPr>
          <a:lstStyle/>
          <a:p>
            <a:pPr algn="l"/>
            <a:r>
              <a:rPr sz="2500" b="0">
                <a:solidFill>
                  <a:srgbClr val="010101"/>
                </a:solidFill>
              </a:rPr>
              <a:t>speed, not headcount.</a:t>
            </a:r>
          </a:p>
        </p:txBody>
      </p:sp>
      <p:sp>
        <p:nvSpPr>
          <p:cNvPr id="17" name="TextBox 16"/>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DYKyzOMCGal / slide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6.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467359" y="1083733"/>
            <a:ext cx="866986" cy="894080"/>
          </a:xfrm>
          <a:prstGeom prst="rect">
            <a:avLst/>
          </a:prstGeom>
          <a:solidFill>
            <a:srgbClr val="0901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47893" y="1659466"/>
            <a:ext cx="230293" cy="237066"/>
          </a:xfrm>
          <a:prstGeom prst="rect">
            <a:avLst/>
          </a:prstGeom>
          <a:solidFill>
            <a:srgbClr val="0501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09973" y="3908213"/>
            <a:ext cx="6305973" cy="846666"/>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30293" y="4619413"/>
            <a:ext cx="5147733" cy="677333"/>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6746" y="5547360"/>
            <a:ext cx="6190826" cy="372533"/>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6746" y="5940213"/>
            <a:ext cx="5791200" cy="365760"/>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3200" y="7396480"/>
            <a:ext cx="6007946" cy="386080"/>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9973" y="7775786"/>
            <a:ext cx="5987626" cy="379306"/>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7680" y="1198880"/>
            <a:ext cx="826346" cy="663786"/>
          </a:xfrm>
          <a:prstGeom prst="rect">
            <a:avLst/>
          </a:prstGeom>
          <a:noFill/>
        </p:spPr>
        <p:txBody>
          <a:bodyPr wrap="square">
            <a:normAutofit/>
          </a:bodyPr>
          <a:lstStyle/>
          <a:p>
            <a:pPr algn="l"/>
            <a:r>
              <a:rPr sz="5800" b="1">
                <a:solidFill>
                  <a:srgbClr val="000000"/>
                </a:solidFill>
              </a:rPr>
              <a:t>14.</a:t>
            </a:r>
          </a:p>
        </p:txBody>
      </p:sp>
      <p:sp>
        <p:nvSpPr>
          <p:cNvPr id="12" name="TextBox 11"/>
          <p:cNvSpPr txBox="1"/>
          <p:nvPr/>
        </p:nvSpPr>
        <p:spPr>
          <a:xfrm>
            <a:off x="1368213" y="1686560"/>
            <a:ext cx="189653" cy="182880"/>
          </a:xfrm>
          <a:prstGeom prst="rect">
            <a:avLst/>
          </a:prstGeom>
          <a:noFill/>
        </p:spPr>
        <p:txBody>
          <a:bodyPr wrap="square">
            <a:normAutofit/>
          </a:bodyPr>
          <a:lstStyle/>
          <a:p>
            <a:pPr algn="l"/>
            <a:r>
              <a:rPr sz="1600" b="0">
                <a:solidFill>
                  <a:srgbClr val="2B0102"/>
                </a:solidFill>
              </a:rPr>
              <a:t>a)</a:t>
            </a:r>
          </a:p>
        </p:txBody>
      </p:sp>
      <p:sp>
        <p:nvSpPr>
          <p:cNvPr id="13" name="TextBox 12"/>
          <p:cNvSpPr txBox="1"/>
          <p:nvPr/>
        </p:nvSpPr>
        <p:spPr>
          <a:xfrm>
            <a:off x="325120" y="4016586"/>
            <a:ext cx="6075680" cy="629920"/>
          </a:xfrm>
          <a:prstGeom prst="rect">
            <a:avLst/>
          </a:prstGeom>
          <a:noFill/>
        </p:spPr>
        <p:txBody>
          <a:bodyPr wrap="square">
            <a:normAutofit/>
          </a:bodyPr>
          <a:lstStyle/>
          <a:p>
            <a:pPr algn="ctr"/>
            <a:r>
              <a:rPr sz="5700" b="1">
                <a:solidFill>
                  <a:srgbClr val="030303"/>
                </a:solidFill>
              </a:rPr>
              <a:t>Supply Chain 2.0 for</a:t>
            </a:r>
          </a:p>
        </p:txBody>
      </p:sp>
      <p:sp>
        <p:nvSpPr>
          <p:cNvPr id="14" name="TextBox 13"/>
          <p:cNvSpPr txBox="1"/>
          <p:nvPr/>
        </p:nvSpPr>
        <p:spPr>
          <a:xfrm>
            <a:off x="325120" y="4707466"/>
            <a:ext cx="4958080" cy="501226"/>
          </a:xfrm>
          <a:prstGeom prst="rect">
            <a:avLst/>
          </a:prstGeom>
          <a:noFill/>
        </p:spPr>
        <p:txBody>
          <a:bodyPr wrap="square">
            <a:normAutofit/>
          </a:bodyPr>
          <a:lstStyle/>
          <a:p>
            <a:pPr algn="ctr"/>
            <a:r>
              <a:rPr sz="4500" b="1">
                <a:solidFill>
                  <a:srgbClr val="030303"/>
                </a:solidFill>
              </a:rPr>
              <a:t>Semiconductors</a:t>
            </a:r>
          </a:p>
        </p:txBody>
      </p:sp>
      <p:sp>
        <p:nvSpPr>
          <p:cNvPr id="15" name="TextBox 14"/>
          <p:cNvSpPr txBox="1"/>
          <p:nvPr/>
        </p:nvSpPr>
        <p:spPr>
          <a:xfrm>
            <a:off x="331893" y="5594773"/>
            <a:ext cx="5960533" cy="277706"/>
          </a:xfrm>
          <a:prstGeom prst="rect">
            <a:avLst/>
          </a:prstGeom>
          <a:noFill/>
        </p:spPr>
        <p:txBody>
          <a:bodyPr wrap="square">
            <a:normAutofit/>
          </a:bodyPr>
          <a:lstStyle/>
          <a:p>
            <a:pPr algn="ctr"/>
            <a:r>
              <a:rPr sz="2500" b="0">
                <a:solidFill>
                  <a:srgbClr val="030303"/>
                </a:solidFill>
              </a:rPr>
              <a:t>Build real-time allocation tracking, multi-tier risk</a:t>
            </a:r>
          </a:p>
        </p:txBody>
      </p:sp>
      <p:sp>
        <p:nvSpPr>
          <p:cNvPr id="16" name="TextBox 15"/>
          <p:cNvSpPr txBox="1"/>
          <p:nvPr/>
        </p:nvSpPr>
        <p:spPr>
          <a:xfrm>
            <a:off x="325120" y="5987626"/>
            <a:ext cx="5574453" cy="270933"/>
          </a:xfrm>
          <a:prstGeom prst="rect">
            <a:avLst/>
          </a:prstGeom>
          <a:noFill/>
        </p:spPr>
        <p:txBody>
          <a:bodyPr wrap="square">
            <a:normAutofit/>
          </a:bodyPr>
          <a:lstStyle/>
          <a:p>
            <a:pPr algn="ctr"/>
            <a:r>
              <a:rPr sz="2400" b="0">
                <a:solidFill>
                  <a:srgbClr val="020202"/>
                </a:solidFill>
              </a:rPr>
              <a:t>monitoring, and export compliance for chips.</a:t>
            </a:r>
          </a:p>
        </p:txBody>
      </p:sp>
      <p:sp>
        <p:nvSpPr>
          <p:cNvPr id="17" name="TextBox 16"/>
          <p:cNvSpPr txBox="1"/>
          <p:nvPr/>
        </p:nvSpPr>
        <p:spPr>
          <a:xfrm>
            <a:off x="318346" y="7443893"/>
            <a:ext cx="5777653" cy="291253"/>
          </a:xfrm>
          <a:prstGeom prst="rect">
            <a:avLst/>
          </a:prstGeom>
          <a:noFill/>
        </p:spPr>
        <p:txBody>
          <a:bodyPr wrap="square">
            <a:normAutofit/>
          </a:bodyPr>
          <a:lstStyle/>
          <a:p>
            <a:pPr algn="ctr"/>
            <a:r>
              <a:rPr sz="2600" b="0">
                <a:solidFill>
                  <a:srgbClr val="020202"/>
                </a:solidFill>
              </a:rPr>
              <a:t>When allocation and compliance change in</a:t>
            </a:r>
          </a:p>
        </p:txBody>
      </p:sp>
      <p:sp>
        <p:nvSpPr>
          <p:cNvPr id="18" name="TextBox 17"/>
          <p:cNvSpPr txBox="1"/>
          <p:nvPr/>
        </p:nvSpPr>
        <p:spPr>
          <a:xfrm>
            <a:off x="325120" y="7823200"/>
            <a:ext cx="5757333" cy="284480"/>
          </a:xfrm>
          <a:prstGeom prst="rect">
            <a:avLst/>
          </a:prstGeom>
          <a:noFill/>
        </p:spPr>
        <p:txBody>
          <a:bodyPr wrap="square">
            <a:normAutofit/>
          </a:bodyPr>
          <a:lstStyle/>
          <a:p>
            <a:pPr algn="ctr"/>
            <a:r>
              <a:rPr sz="2600" b="0">
                <a:solidFill>
                  <a:srgbClr val="020202"/>
                </a:solidFill>
              </a:rPr>
              <a:t>real time, static spreadsheets become risk.</a:t>
            </a:r>
          </a:p>
        </p:txBody>
      </p:sp>
      <p:sp>
        <p:nvSpPr>
          <p:cNvPr id="19" name="TextBox 18"/>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DYKyzOMCGal / slide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7.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386080" y="1090506"/>
            <a:ext cx="846666" cy="921173"/>
          </a:xfrm>
          <a:prstGeom prst="rect">
            <a:avLst/>
          </a:prstGeom>
          <a:solidFill>
            <a:srgbClr val="08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506" y="3975946"/>
            <a:ext cx="7105226" cy="792480"/>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35466" y="4612640"/>
            <a:ext cx="4152053" cy="799253"/>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1920" y="5574453"/>
            <a:ext cx="6278880" cy="372533"/>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1920" y="6001173"/>
            <a:ext cx="6245013" cy="365760"/>
          </a:xfrm>
          <a:prstGeom prst="rect">
            <a:avLst/>
          </a:prstGeom>
          <a:solidFill>
            <a:srgbClr val="07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9333" y="6427893"/>
            <a:ext cx="3318933" cy="372533"/>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373" y="7620000"/>
            <a:ext cx="5648960" cy="413173"/>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1600" y="8019626"/>
            <a:ext cx="6339840" cy="392853"/>
          </a:xfrm>
          <a:prstGeom prst="rect">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6400" y="1212426"/>
            <a:ext cx="806026" cy="677333"/>
          </a:xfrm>
          <a:prstGeom prst="rect">
            <a:avLst/>
          </a:prstGeom>
          <a:noFill/>
        </p:spPr>
        <p:txBody>
          <a:bodyPr wrap="square">
            <a:normAutofit/>
          </a:bodyPr>
          <a:lstStyle/>
          <a:p>
            <a:pPr algn="l"/>
            <a:r>
              <a:rPr sz="5800" b="1">
                <a:solidFill>
                  <a:srgbClr val="000001"/>
                </a:solidFill>
              </a:rPr>
              <a:t>15.</a:t>
            </a:r>
          </a:p>
        </p:txBody>
      </p:sp>
      <p:sp>
        <p:nvSpPr>
          <p:cNvPr id="12" name="TextBox 11"/>
          <p:cNvSpPr txBox="1"/>
          <p:nvPr/>
        </p:nvSpPr>
        <p:spPr>
          <a:xfrm>
            <a:off x="209973" y="4077546"/>
            <a:ext cx="6834293" cy="589280"/>
          </a:xfrm>
          <a:prstGeom prst="rect">
            <a:avLst/>
          </a:prstGeom>
          <a:noFill/>
        </p:spPr>
        <p:txBody>
          <a:bodyPr wrap="square">
            <a:normAutofit/>
          </a:bodyPr>
          <a:lstStyle/>
          <a:p>
            <a:pPr algn="ctr"/>
            <a:r>
              <a:rPr sz="5300" b="1">
                <a:solidFill>
                  <a:srgbClr val="030303"/>
                </a:solidFill>
              </a:rPr>
              <a:t>The Al Operating System</a:t>
            </a:r>
          </a:p>
        </p:txBody>
      </p:sp>
      <p:sp>
        <p:nvSpPr>
          <p:cNvPr id="13" name="TextBox 12"/>
          <p:cNvSpPr txBox="1"/>
          <p:nvPr/>
        </p:nvSpPr>
        <p:spPr>
          <a:xfrm>
            <a:off x="209973" y="4714240"/>
            <a:ext cx="4003040" cy="596053"/>
          </a:xfrm>
          <a:prstGeom prst="rect">
            <a:avLst/>
          </a:prstGeom>
          <a:noFill/>
        </p:spPr>
        <p:txBody>
          <a:bodyPr wrap="square">
            <a:normAutofit/>
          </a:bodyPr>
          <a:lstStyle/>
          <a:p>
            <a:pPr algn="ctr"/>
            <a:r>
              <a:rPr sz="5400" b="1">
                <a:solidFill>
                  <a:srgbClr val="030303"/>
                </a:solidFill>
              </a:rPr>
              <a:t>for Companies</a:t>
            </a:r>
          </a:p>
        </p:txBody>
      </p:sp>
      <p:sp>
        <p:nvSpPr>
          <p:cNvPr id="14" name="TextBox 13"/>
          <p:cNvSpPr txBox="1"/>
          <p:nvPr/>
        </p:nvSpPr>
        <p:spPr>
          <a:xfrm>
            <a:off x="237066" y="5621866"/>
            <a:ext cx="6048586" cy="277706"/>
          </a:xfrm>
          <a:prstGeom prst="rect">
            <a:avLst/>
          </a:prstGeom>
          <a:noFill/>
        </p:spPr>
        <p:txBody>
          <a:bodyPr wrap="square">
            <a:normAutofit/>
          </a:bodyPr>
          <a:lstStyle/>
          <a:p>
            <a:pPr algn="ctr"/>
            <a:r>
              <a:rPr sz="2500" b="0">
                <a:solidFill>
                  <a:srgbClr val="020202"/>
                </a:solidFill>
              </a:rPr>
              <a:t>Build the connective layer that makes a company</a:t>
            </a:r>
          </a:p>
        </p:txBody>
      </p:sp>
      <p:sp>
        <p:nvSpPr>
          <p:cNvPr id="15" name="TextBox 14"/>
          <p:cNvSpPr txBox="1"/>
          <p:nvPr/>
        </p:nvSpPr>
        <p:spPr>
          <a:xfrm>
            <a:off x="237066" y="6048586"/>
            <a:ext cx="6014720" cy="270933"/>
          </a:xfrm>
          <a:prstGeom prst="rect">
            <a:avLst/>
          </a:prstGeom>
          <a:noFill/>
        </p:spPr>
        <p:txBody>
          <a:bodyPr wrap="square">
            <a:normAutofit/>
          </a:bodyPr>
          <a:lstStyle/>
          <a:p>
            <a:pPr algn="ctr"/>
            <a:r>
              <a:rPr sz="2400" b="0">
                <a:solidFill>
                  <a:srgbClr val="020202"/>
                </a:solidFill>
              </a:rPr>
              <a:t>legible to Al by default and turns its own artifacts</a:t>
            </a:r>
          </a:p>
        </p:txBody>
      </p:sp>
      <p:sp>
        <p:nvSpPr>
          <p:cNvPr id="16" name="TextBox 15"/>
          <p:cNvSpPr txBox="1"/>
          <p:nvPr/>
        </p:nvSpPr>
        <p:spPr>
          <a:xfrm>
            <a:off x="230293" y="6475306"/>
            <a:ext cx="3197013" cy="277706"/>
          </a:xfrm>
          <a:prstGeom prst="rect">
            <a:avLst/>
          </a:prstGeom>
          <a:noFill/>
        </p:spPr>
        <p:txBody>
          <a:bodyPr wrap="square">
            <a:normAutofit/>
          </a:bodyPr>
          <a:lstStyle/>
          <a:p>
            <a:pPr algn="l"/>
            <a:r>
              <a:rPr sz="2500" b="0">
                <a:solidFill>
                  <a:srgbClr val="020202"/>
                </a:solidFill>
              </a:rPr>
              <a:t>into a self-improving loop.</a:t>
            </a:r>
          </a:p>
        </p:txBody>
      </p:sp>
      <p:sp>
        <p:nvSpPr>
          <p:cNvPr id="17" name="TextBox 16"/>
          <p:cNvSpPr txBox="1"/>
          <p:nvPr/>
        </p:nvSpPr>
        <p:spPr>
          <a:xfrm>
            <a:off x="216746" y="7674186"/>
            <a:ext cx="5432213" cy="304800"/>
          </a:xfrm>
          <a:prstGeom prst="rect">
            <a:avLst/>
          </a:prstGeom>
          <a:noFill/>
        </p:spPr>
        <p:txBody>
          <a:bodyPr wrap="square">
            <a:normAutofit/>
          </a:bodyPr>
          <a:lstStyle/>
          <a:p>
            <a:pPr algn="ctr"/>
            <a:r>
              <a:rPr sz="2700" b="0">
                <a:solidFill>
                  <a:srgbClr val="020202"/>
                </a:solidFill>
              </a:rPr>
              <a:t>The winning system becomes how the</a:t>
            </a:r>
          </a:p>
        </p:txBody>
      </p:sp>
      <p:sp>
        <p:nvSpPr>
          <p:cNvPr id="18" name="TextBox 17"/>
          <p:cNvSpPr txBox="1"/>
          <p:nvPr/>
        </p:nvSpPr>
        <p:spPr>
          <a:xfrm>
            <a:off x="223520" y="8067040"/>
            <a:ext cx="6096000" cy="298026"/>
          </a:xfrm>
          <a:prstGeom prst="rect">
            <a:avLst/>
          </a:prstGeom>
          <a:noFill/>
        </p:spPr>
        <p:txBody>
          <a:bodyPr wrap="square">
            <a:normAutofit/>
          </a:bodyPr>
          <a:lstStyle/>
          <a:p>
            <a:pPr algn="ctr"/>
            <a:r>
              <a:rPr sz="2700" b="0">
                <a:solidFill>
                  <a:srgbClr val="020202"/>
                </a:solidFill>
              </a:rPr>
              <a:t>company learns, not another tool beside it.</a:t>
            </a:r>
          </a:p>
        </p:txBody>
      </p:sp>
      <p:sp>
        <p:nvSpPr>
          <p:cNvPr id="19" name="TextBox 18"/>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DYKyzOMCGal / slide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8.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778933" y="6631093"/>
            <a:ext cx="5743786" cy="372533"/>
          </a:xfrm>
          <a:prstGeom prst="rect">
            <a:avLst/>
          </a:prstGeom>
          <a:solidFill>
            <a:srgbClr val="F2E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25973" y="7051040"/>
            <a:ext cx="4883573" cy="358986"/>
          </a:xfrm>
          <a:prstGeom prst="rect">
            <a:avLst/>
          </a:prstGeom>
          <a:solidFill>
            <a:srgbClr val="F4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7306" y="6678506"/>
            <a:ext cx="5527040" cy="277706"/>
          </a:xfrm>
          <a:prstGeom prst="rect">
            <a:avLst/>
          </a:prstGeom>
          <a:noFill/>
        </p:spPr>
        <p:txBody>
          <a:bodyPr wrap="square">
            <a:normAutofit/>
          </a:bodyPr>
          <a:lstStyle/>
          <a:p>
            <a:pPr algn="ctr"/>
            <a:r>
              <a:rPr sz="2500" b="0">
                <a:solidFill>
                  <a:srgbClr val="783837"/>
                </a:solidFill>
              </a:rPr>
              <a:t>YOUR FAVOURITE FOUNDER'S</a:t>
            </a:r>
          </a:p>
        </p:txBody>
      </p:sp>
      <p:sp>
        <p:nvSpPr>
          <p:cNvPr id="6" name="TextBox 5"/>
          <p:cNvSpPr txBox="1"/>
          <p:nvPr/>
        </p:nvSpPr>
        <p:spPr>
          <a:xfrm>
            <a:off x="1314026" y="7098453"/>
            <a:ext cx="4707466" cy="264160"/>
          </a:xfrm>
          <a:prstGeom prst="rect">
            <a:avLst/>
          </a:prstGeom>
          <a:noFill/>
        </p:spPr>
        <p:txBody>
          <a:bodyPr wrap="square">
            <a:normAutofit/>
          </a:bodyPr>
          <a:lstStyle/>
          <a:p>
            <a:pPr algn="ctr"/>
            <a:r>
              <a:rPr sz="2400" b="0">
                <a:solidFill>
                  <a:srgbClr val="783837"/>
                </a:solidFill>
              </a:rPr>
              <a:t>FAVOURITE NEWSLETTER.</a:t>
            </a:r>
          </a:p>
        </p:txBody>
      </p:sp>
      <p:sp>
        <p:nvSpPr>
          <p:cNvPr id="7" name="TextBox 6"/>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DYKyzOMCGal / slide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406400" y="508000"/>
            <a:ext cx="6231466" cy="352213"/>
          </a:xfrm>
          <a:prstGeom prst="rect">
            <a:avLst/>
          </a:prstGeom>
          <a:noFill/>
        </p:spPr>
        <p:txBody>
          <a:bodyPr wrap="square">
            <a:normAutofit/>
          </a:bodyPr>
          <a:lstStyle/>
          <a:p>
            <a:pPr algn="l"/>
            <a:r>
              <a:rPr sz="2600" b="0">
                <a:solidFill>
                  <a:srgbClr val="0F0F0F"/>
                </a:solidFill>
              </a:rPr>
              <a:t>tech-news / DYKyzOMCGal</a:t>
            </a:r>
          </a:p>
        </p:txBody>
      </p:sp>
      <p:sp>
        <p:nvSpPr>
          <p:cNvPr id="3" name="TextBox 2"/>
          <p:cNvSpPr txBox="1"/>
          <p:nvPr/>
        </p:nvSpPr>
        <p:spPr>
          <a:xfrm>
            <a:off x="406400" y="1083733"/>
            <a:ext cx="6231466" cy="189653"/>
          </a:xfrm>
          <a:prstGeom prst="rect">
            <a:avLst/>
          </a:prstGeom>
          <a:noFill/>
        </p:spPr>
        <p:txBody>
          <a:bodyPr wrap="square">
            <a:normAutofit/>
          </a:bodyPr>
          <a:lstStyle/>
          <a:p>
            <a:pPr algn="l"/>
            <a:r>
              <a:rPr sz="1400" b="0">
                <a:solidFill>
                  <a:srgbClr val="505050"/>
                </a:solidFill>
              </a:rPr>
              <a:t>Source URL</a:t>
            </a:r>
          </a:p>
        </p:txBody>
      </p:sp>
      <p:sp>
        <p:nvSpPr>
          <p:cNvPr id="4" name="TextBox 3"/>
          <p:cNvSpPr txBox="1"/>
          <p:nvPr/>
        </p:nvSpPr>
        <p:spPr>
          <a:xfrm>
            <a:off x="406400" y="1341120"/>
            <a:ext cx="6231466" cy="284480"/>
          </a:xfrm>
          <a:prstGeom prst="rect">
            <a:avLst/>
          </a:prstGeom>
          <a:noFill/>
        </p:spPr>
        <p:txBody>
          <a:bodyPr wrap="square">
            <a:normAutofit/>
          </a:bodyPr>
          <a:lstStyle/>
          <a:p>
            <a:pPr algn="l"/>
            <a:r>
              <a:rPr sz="1500" b="0">
                <a:solidFill>
                  <a:srgbClr val="1E46A0"/>
                </a:solidFill>
              </a:rPr>
              <a:t>https://www.instagram.com/p/DYKyzOMCGal/</a:t>
            </a:r>
          </a:p>
        </p:txBody>
      </p:sp>
      <p:sp>
        <p:nvSpPr>
          <p:cNvPr id="5" name="TextBox 4"/>
          <p:cNvSpPr txBox="1"/>
          <p:nvPr/>
        </p:nvSpPr>
        <p:spPr>
          <a:xfrm>
            <a:off x="406400" y="1998133"/>
            <a:ext cx="6231466" cy="189653"/>
          </a:xfrm>
          <a:prstGeom prst="rect">
            <a:avLst/>
          </a:prstGeom>
          <a:noFill/>
        </p:spPr>
        <p:txBody>
          <a:bodyPr wrap="square">
            <a:normAutofit/>
          </a:bodyPr>
          <a:lstStyle/>
          <a:p>
            <a:pPr algn="l"/>
            <a:r>
              <a:rPr sz="1400" b="0">
                <a:solidFill>
                  <a:srgbClr val="505050"/>
                </a:solidFill>
              </a:rPr>
              <a:t>Caption</a:t>
            </a:r>
          </a:p>
        </p:txBody>
      </p:sp>
      <p:sp>
        <p:nvSpPr>
          <p:cNvPr id="6" name="TextBox 5"/>
          <p:cNvSpPr txBox="1"/>
          <p:nvPr/>
        </p:nvSpPr>
        <p:spPr>
          <a:xfrm>
            <a:off x="406400" y="2269066"/>
            <a:ext cx="6231466" cy="5147733"/>
          </a:xfrm>
          <a:prstGeom prst="rect">
            <a:avLst/>
          </a:prstGeom>
          <a:noFill/>
        </p:spPr>
        <p:txBody>
          <a:bodyPr wrap="square">
            <a:normAutofit/>
          </a:bodyPr>
          <a:lstStyle/>
          <a:p>
            <a:pPr algn="l"/>
            <a:r>
              <a:rPr sz="1300" b="0">
                <a:solidFill>
                  <a:srgbClr val="1E1E1E"/>
                </a:solidFill>
              </a:rPr>
              <a:t>Y Combinator’s Summer 2026 startup request list is one of the most important documents founders, investors, and operators should study right now. 
It offers a rare glimpse into where one of the world’s most influential accelerators believes the next wave of AI and frontier technology companies will emerge.
What makes this valuable is the signal quality. YC reviews thousands of companies before markets fully recognize major shifts, meaning their requests often foreshadow where capital, talent, and innovation are accelerating.
For ambitious builders, this is more than content. It is strategic intelligence that can shape timing, positioning, product direction, and long term conviction.
Join over 10,000 founders with our newsletter available for free now, to stay ahead of the market.
#startup #startups #ycombinator #ycombinatorstartup #startuprequest</a:t>
            </a:r>
          </a:p>
        </p:txBody>
      </p:sp>
      <p:sp>
        <p:nvSpPr>
          <p:cNvPr id="7" name="TextBox 6"/>
          <p:cNvSpPr txBox="1"/>
          <p:nvPr/>
        </p:nvSpPr>
        <p:spPr>
          <a:xfrm>
            <a:off x="406400" y="7721600"/>
            <a:ext cx="6231466" cy="189653"/>
          </a:xfrm>
          <a:prstGeom prst="rect">
            <a:avLst/>
          </a:prstGeom>
          <a:noFill/>
        </p:spPr>
        <p:txBody>
          <a:bodyPr wrap="square">
            <a:normAutofit/>
          </a:bodyPr>
          <a:lstStyle/>
          <a:p>
            <a:pPr algn="l"/>
            <a:r>
              <a:rPr sz="1300" b="0">
                <a:solidFill>
                  <a:srgbClr val="505050"/>
                </a:solidFill>
              </a:rPr>
              <a:t>Componentization note</a:t>
            </a:r>
          </a:p>
        </p:txBody>
      </p:sp>
      <p:sp>
        <p:nvSpPr>
          <p:cNvPr id="8" name="TextBox 7"/>
          <p:cNvSpPr txBox="1"/>
          <p:nvPr/>
        </p:nvSpPr>
        <p:spPr>
          <a:xfrm>
            <a:off x="406400" y="7978986"/>
            <a:ext cx="6231466" cy="528320"/>
          </a:xfrm>
          <a:prstGeom prst="rect">
            <a:avLst/>
          </a:prstGeom>
          <a:noFill/>
        </p:spPr>
        <p:txBody>
          <a:bodyPr wrap="square">
            <a:normAutofit/>
          </a:bodyPr>
          <a:lstStyle/>
          <a:p>
            <a:pPr algn="l"/>
            <a:r>
              <a:rPr sz="1200" b="0">
                <a:solidFill>
                  <a:srgbClr val="323232"/>
                </a:solidFill>
              </a:rPr>
              <a:t>Images are separate page objects. OCR-detected text has been covered and recreated as editable text boxes.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