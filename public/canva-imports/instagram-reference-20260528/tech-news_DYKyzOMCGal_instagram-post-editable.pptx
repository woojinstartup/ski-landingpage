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73152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DYKyzOMCGal /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11480" y="594360"/>
            <a:ext cx="6492240" cy="411480"/>
          </a:xfrm>
          <a:prstGeom prst="rect">
            <a:avLst/>
          </a:prstGeom>
          <a:noFill/>
        </p:spPr>
        <p:txBody>
          <a:bodyPr wrap="square">
            <a:spAutoFit/>
          </a:bodyPr>
          <a:lstStyle/>
          <a:p>
            <a:pPr algn="l"/>
            <a:r>
              <a:rPr sz="2400" b="1">
                <a:solidFill>
                  <a:srgbClr val="121212"/>
                </a:solidFill>
              </a:rPr>
              <a:t>tech-news / DYKyzOMCGal</a:t>
            </a:r>
          </a:p>
        </p:txBody>
      </p:sp>
      <p:sp>
        <p:nvSpPr>
          <p:cNvPr id="3" name="TextBox 2"/>
          <p:cNvSpPr txBox="1"/>
          <p:nvPr/>
        </p:nvSpPr>
        <p:spPr>
          <a:xfrm>
            <a:off x="411480" y="1170432"/>
            <a:ext cx="6492240" cy="310896"/>
          </a:xfrm>
          <a:prstGeom prst="rect">
            <a:avLst/>
          </a:prstGeom>
          <a:noFill/>
        </p:spPr>
        <p:txBody>
          <a:bodyPr wrap="square">
            <a:spAutoFit/>
          </a:bodyPr>
          <a:lstStyle/>
          <a:p>
            <a:pPr algn="l"/>
            <a:r>
              <a:rPr sz="1200" b="1">
                <a:solidFill>
                  <a:srgbClr val="505050"/>
                </a:solidFill>
              </a:rPr>
              <a:t>Source URL</a:t>
            </a:r>
          </a:p>
        </p:txBody>
      </p:sp>
      <p:sp>
        <p:nvSpPr>
          <p:cNvPr id="4" name="TextBox 3"/>
          <p:cNvSpPr txBox="1"/>
          <p:nvPr/>
        </p:nvSpPr>
        <p:spPr>
          <a:xfrm>
            <a:off x="411480" y="1490472"/>
            <a:ext cx="6492240" cy="502920"/>
          </a:xfrm>
          <a:prstGeom prst="rect">
            <a:avLst/>
          </a:prstGeom>
          <a:noFill/>
        </p:spPr>
        <p:txBody>
          <a:bodyPr wrap="square">
            <a:spAutoFit/>
          </a:bodyPr>
          <a:lstStyle/>
          <a:p>
            <a:pPr algn="l"/>
            <a:r>
              <a:rPr sz="1400" b="0">
                <a:solidFill>
                  <a:srgbClr val="1E46A0"/>
                </a:solidFill>
              </a:rPr>
              <a:t>https://www.instagram.com/p/DYKyzOMCGal/</a:t>
            </a:r>
          </a:p>
        </p:txBody>
      </p:sp>
      <p:sp>
        <p:nvSpPr>
          <p:cNvPr id="5" name="TextBox 4"/>
          <p:cNvSpPr txBox="1"/>
          <p:nvPr/>
        </p:nvSpPr>
        <p:spPr>
          <a:xfrm>
            <a:off x="411480" y="2240280"/>
            <a:ext cx="6492240" cy="310896"/>
          </a:xfrm>
          <a:prstGeom prst="rect">
            <a:avLst/>
          </a:prstGeom>
          <a:noFill/>
        </p:spPr>
        <p:txBody>
          <a:bodyPr wrap="square">
            <a:spAutoFit/>
          </a:bodyPr>
          <a:lstStyle/>
          <a:p>
            <a:pPr algn="l"/>
            <a:r>
              <a:rPr sz="1200" b="1">
                <a:solidFill>
                  <a:srgbClr val="505050"/>
                </a:solidFill>
              </a:rPr>
              <a:t>Caption</a:t>
            </a:r>
          </a:p>
        </p:txBody>
      </p:sp>
      <p:sp>
        <p:nvSpPr>
          <p:cNvPr id="6" name="TextBox 5"/>
          <p:cNvSpPr txBox="1"/>
          <p:nvPr/>
        </p:nvSpPr>
        <p:spPr>
          <a:xfrm>
            <a:off x="411480" y="2560320"/>
            <a:ext cx="6492240" cy="5852160"/>
          </a:xfrm>
          <a:prstGeom prst="rect">
            <a:avLst/>
          </a:prstGeom>
          <a:noFill/>
        </p:spPr>
        <p:txBody>
          <a:bodyPr wrap="square">
            <a:spAutoFit/>
          </a:bodyPr>
          <a:lstStyle/>
          <a:p>
            <a:pPr algn="l"/>
            <a:r>
              <a:rPr sz="1300" b="0">
                <a:solidFill>
                  <a:srgbClr val="121212"/>
                </a:solidFill>
              </a:rPr>
              <a:t>Y Combinator’s Summer 2026 startup request list is one of the most important documents founders, investors, and operators should study right now. 
It offers a rare glimpse into where one of the world’s most influential accelerators believes the next wave of AI and frontier technology companies will emerge.
What makes this valuable is the signal quality. YC reviews thousands of companies before markets fully recognize major shifts, meaning their requests often foreshadow where capital, talent, and innovation are accelerating.
For ambitious builders, this is more than content. It is strategic intelligence that can shape timing, positioning, product direction, and long term conviction.
Join over 10,000 founders with our newsletter available for free now, to stay ahead of the market.
#startup #startups #ycombinator #ycombinatorstartup #startuprequest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